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  <p:sldMasterId id="2147483834" r:id="rId2"/>
  </p:sldMasterIdLst>
  <p:notesMasterIdLst>
    <p:notesMasterId r:id="rId26"/>
  </p:notesMasterIdLst>
  <p:sldIdLst>
    <p:sldId id="256" r:id="rId3"/>
    <p:sldId id="270" r:id="rId4"/>
    <p:sldId id="278" r:id="rId5"/>
    <p:sldId id="279" r:id="rId6"/>
    <p:sldId id="280" r:id="rId7"/>
    <p:sldId id="266" r:id="rId8"/>
    <p:sldId id="257" r:id="rId9"/>
    <p:sldId id="258" r:id="rId10"/>
    <p:sldId id="274" r:id="rId11"/>
    <p:sldId id="276" r:id="rId12"/>
    <p:sldId id="259" r:id="rId13"/>
    <p:sldId id="260" r:id="rId14"/>
    <p:sldId id="261" r:id="rId15"/>
    <p:sldId id="262" r:id="rId16"/>
    <p:sldId id="269" r:id="rId17"/>
    <p:sldId id="273" r:id="rId18"/>
    <p:sldId id="275" r:id="rId19"/>
    <p:sldId id="263" r:id="rId20"/>
    <p:sldId id="264" r:id="rId21"/>
    <p:sldId id="277" r:id="rId22"/>
    <p:sldId id="265" r:id="rId23"/>
    <p:sldId id="268" r:id="rId24"/>
    <p:sldId id="267" r:id="rId2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7B73D5-2BA5-4A19-95FE-CC4F58DC7875}" v="1" dt="2026-09-04T09:12:16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9379" autoAdjust="0"/>
  </p:normalViewPr>
  <p:slideViewPr>
    <p:cSldViewPr snapToGrid="0">
      <p:cViewPr varScale="1">
        <p:scale>
          <a:sx n="63" d="100"/>
          <a:sy n="63" d="100"/>
        </p:scale>
        <p:origin x="13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Geelen (Quest For Security)" userId="eb323b04-b7a4-41e4-a507-3152ca9a1546" providerId="ADAL" clId="{61527B13-2676-449B-A8C4-13637C113666}"/>
    <pc:docChg chg="modSld">
      <pc:chgData name="Peter Geelen (Quest For Security)" userId="eb323b04-b7a4-41e4-a507-3152ca9a1546" providerId="ADAL" clId="{61527B13-2676-449B-A8C4-13637C113666}" dt="2026-09-04T09:12:24.372" v="2"/>
      <pc:docMkLst>
        <pc:docMk/>
      </pc:docMkLst>
      <pc:sldChg chg="addSp delSp modSp mod">
        <pc:chgData name="Peter Geelen (Quest For Security)" userId="eb323b04-b7a4-41e4-a507-3152ca9a1546" providerId="ADAL" clId="{61527B13-2676-449B-A8C4-13637C113666}" dt="2026-09-04T09:12:24.372" v="2"/>
        <pc:sldMkLst>
          <pc:docMk/>
          <pc:sldMk cId="4055340545" sldId="256"/>
        </pc:sldMkLst>
        <pc:spChg chg="add del mod">
          <ac:chgData name="Peter Geelen (Quest For Security)" userId="eb323b04-b7a4-41e4-a507-3152ca9a1546" providerId="ADAL" clId="{61527B13-2676-449B-A8C4-13637C113666}" dt="2026-09-04T09:12:24.372" v="2"/>
          <ac:spMkLst>
            <pc:docMk/>
            <pc:sldMk cId="4055340545" sldId="256"/>
            <ac:spMk id="7" creationId="{E3AD7E3C-2066-F070-26E6-4C11F4241E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F6626-A253-493C-BF26-BE6CBDCC0475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42BBD-261E-452F-BD1A-2A16B220CF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Refernence</a:t>
            </a:r>
            <a:r>
              <a:rPr lang="en-US" dirty="0"/>
              <a:t> ISO 9001 Chapter 0.3 &gt; 0.3.1 &gt; Figure 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42BBD-261E-452F-BD1A-2A16B220CFA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467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EDE1-F5CB-B025-D603-3B4B9EB6C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0462E-9504-DA2F-C9C6-A5FC2A219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A33FA-D807-E040-D0B5-E3A4FC18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C779-59B7-45A6-9F5C-A8F0B19D7279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15BA6-25A3-2130-D387-D08C8AE2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CA15-3BDD-DD8F-C1ED-611B609A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4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10DC-3BF1-290C-5F81-435D9DFB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8810-5657-4065-1DA1-A54B94A0E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58887-FA2F-5D56-6D9A-A9C982D0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78FD-7291-4F40-A32E-78941DA31494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23C31-E39C-FBA9-C1DE-C3E69E08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4BD39-3011-CAD8-8E49-E58536E6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09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9054-E21A-06AB-3ADA-A88769A2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15AB-2512-80ED-424A-65301108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A63EC-7073-4B71-9EB0-0E0B499D9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18877-AD05-4CC9-AFF7-7DE28EBDCE1B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6B4D-429A-070C-36E5-4B4F1453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023B-0577-09AC-C06F-70C16278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91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015B-C7CD-6E1F-3B0A-EA31464D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3FFA2-B007-4E8F-9549-1E5CF0FFF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129B2-071C-5CCB-1721-F7893101D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7344B-0781-E1C6-EC8A-3743C361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286-FB87-4808-978D-60219471942C}" type="datetime1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3774F-B994-BF73-3E7A-77B93D05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24CE5-A4F5-3456-CED0-3FBE09EE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6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46F23-E164-ACBC-5722-DD72EA4A4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63687-0340-F032-EFE7-0758212D4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8AD10-1A49-41F2-9E92-9E1505F96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EE001-334F-B2EE-806D-DEB286C76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28F0A-8C98-7BA2-CFCD-5BE9F38FE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B43407-A2B0-B34F-774D-923FFC4E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E6EDC-1ED8-412C-87C6-92E6C3F422FE}" type="datetime1">
              <a:rPr lang="en-GB" smtClean="0"/>
              <a:t>04/09/2026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E88BD-0769-A91C-5E28-73818C21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C512E-E8D1-0C6A-9BA8-9802E4C3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41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33E3-5615-4D44-FECB-C3DBD0F3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8BDBA-B9B9-2C91-5C33-1B89EB61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CBA4-6C7E-4EA5-9454-78109E2ED00A}" type="datetime1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A2D26-0D0F-FB31-881D-6A57936D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2C9A0-0056-7259-6709-3DC68A72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36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0F8B3-8C99-A7CF-033E-1C8EDF15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5BE8F-7CFA-453B-AD01-98E46CFC97C9}" type="datetime1">
              <a:rPr lang="en-GB" smtClean="0"/>
              <a:t>04/09/2026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2DB72-0EA9-E531-0608-9BD04230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E4802-31C6-732C-265B-4B483951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18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8CBB-4654-E464-91EB-B5B367F09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DC058-C402-973B-F795-AA5B017B1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EEE35-0523-57AD-3A72-53FB2A152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10F1A-D63F-5FAB-82A0-A4B77F03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5495-41A8-4AAC-8D89-ADBBF3C73945}" type="datetime1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8D81E-886D-2EE5-A9CB-A598BBCC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F6F24-5851-1657-C21E-178EE27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26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D8EE-656A-AFB6-8A5D-7192691A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07318-A2F2-ED0F-3D6C-F01AD5C3A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5EE39-1D31-63DF-58E5-99955A077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EDC0D-0869-E8B5-5FDC-013CD197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32F62-5451-45E8-9EC1-35CD853326A3}" type="datetime1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C8988-F189-9909-FF27-4A9FDC51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686FE-F706-B688-B4DA-5177FF1E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20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4D20-C829-7210-0A92-A49C017A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79B9D-D457-4E43-72B6-F143F1337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9878-3405-D898-5EA1-AFD2428D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9F5F8-1EAD-4698-AEAE-5321FCA28282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32DB0-C0F3-4F63-F4CC-B243F8C0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30313-42FA-6967-0707-A6AC9FAB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74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1E028-4F34-8CA9-1629-52684DB25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7E7CB-9341-6DC6-C47B-7B11894D8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328B-FB18-E3F6-D34F-F89CFA6A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7B8E-3981-41FB-B5AE-341E8ABE8278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72C3F-8688-22E9-3F85-117B6CC0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38F6D-3217-1CDD-4D09-D12D7212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28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BE" dirty="0" err="1"/>
              <a:t>Printed</a:t>
            </a:r>
            <a:r>
              <a:rPr lang="nl-BE" dirty="0"/>
              <a:t> - </a:t>
            </a:r>
            <a:fld id="{DEE1F808-0A66-4C85-9BFF-6DCAA00D77A3}" type="datetime1">
              <a:rPr lang="nl-BE" smtClean="0"/>
              <a:pPr/>
              <a:t>4/09/2026</a:t>
            </a:fld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  <p:sp>
        <p:nvSpPr>
          <p:cNvPr id="7" name="Tijdelijke aanduiding voor voettekst 2">
            <a:extLst>
              <a:ext uri="{FF2B5EF4-FFF2-40B4-BE49-F238E27FC236}">
                <a16:creationId xmlns:a16="http://schemas.microsoft.com/office/drawing/2014/main" id="{CB1CE4F4-62F1-4039-A892-31562474236F}"/>
              </a:ext>
            </a:extLst>
          </p:cNvPr>
          <p:cNvSpPr txBox="1">
            <a:spLocks/>
          </p:cNvSpPr>
          <p:nvPr userDrawn="1"/>
        </p:nvSpPr>
        <p:spPr>
          <a:xfrm>
            <a:off x="3688466" y="6356351"/>
            <a:ext cx="48150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dirty="0"/>
              <a:t>&lt;</a:t>
            </a:r>
            <a:r>
              <a:rPr lang="nl-BE" sz="1200" dirty="0" err="1"/>
              <a:t>Published</a:t>
            </a:r>
            <a:r>
              <a:rPr lang="nl-BE" sz="1200" dirty="0"/>
              <a:t> 2023-03-01 - v1.0 - CONFIDENTIAL&gt;</a:t>
            </a:r>
          </a:p>
        </p:txBody>
      </p:sp>
    </p:spTree>
    <p:extLst>
      <p:ext uri="{BB962C8B-B14F-4D97-AF65-F5344CB8AC3E}">
        <p14:creationId xmlns:p14="http://schemas.microsoft.com/office/powerpoint/2010/main" val="3819896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61A83-6CFC-442A-9DDA-2F79671A039E}" type="datetime1">
              <a:rPr lang="nl-BE" smtClean="0"/>
              <a:t>4/09/2026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19/01/2016 v1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1539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2EA86-BAC4-47C5-A96C-CDCA869BCFD5}" type="datetime1">
              <a:rPr lang="nl-BE" smtClean="0"/>
              <a:t>4/09/2026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12173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6DF0C-A021-4BBD-89A2-408AE3A2F967}" type="datetime1">
              <a:rPr lang="nl-BE" smtClean="0"/>
              <a:t>4/09/2026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82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FEA2E-7CF2-4075-9373-732ED6A8FCD3}" type="datetime1">
              <a:rPr lang="nl-BE" smtClean="0"/>
              <a:t>4/09/2026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19/01/2016 v1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431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15CB-BCDC-4B76-8F13-C172670ED1E3}" type="datetime1">
              <a:rPr lang="nl-BE" smtClean="0"/>
              <a:t>4/09/2026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55898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B512-CD74-4E9C-AD91-F05E3805EAD2}" type="datetime1">
              <a:rPr lang="nl-BE" smtClean="0"/>
              <a:t>4/09/2026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46026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3373-5D0E-45E2-959C-B07637A6AC9E}" type="datetime1">
              <a:rPr lang="nl-BE" smtClean="0"/>
              <a:t>4/09/2026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1444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E6364-8B1D-4CCB-8CBE-1612806AC3A7}" type="datetime1">
              <a:rPr lang="nl-BE" smtClean="0"/>
              <a:t>4/09/2026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8751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8799C-A2F5-44F4-85ED-4AEC24671F4A}" type="datetime1">
              <a:rPr lang="nl-BE" smtClean="0"/>
              <a:t>4/09/2026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2021-03-16 v1 - CONFIDENTIAL</a:t>
            </a:r>
          </a:p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7242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8A52-C994-4C05-97B7-01E47515BDD1}" type="datetime1">
              <a:rPr lang="nl-BE" smtClean="0"/>
              <a:t>4/09/2026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2021-03-16 v1 - CONFIDENTIAL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090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C4B41-A42F-041E-4A0B-7AB039F46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A6CAB-DF4D-FF68-E52F-6CA3BE2A1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67BB-2B43-8213-E7A7-0BF7656D3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86237-2654-4025-B12E-485E5DFB83A8}" type="datetime1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2D95-5DC7-F53F-2547-208F4FF71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0CD3A-527D-E9C8-D55B-8735AF8F9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CC827-0890-441F-AF75-6922321CC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88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B83D3-BD9A-459F-B101-3D51183EAF79}" type="datetime1">
              <a:rPr lang="nl-BE" smtClean="0"/>
              <a:t>4/09/2026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BE" dirty="0"/>
              <a:t>&lt;</a:t>
            </a:r>
            <a:r>
              <a:rPr lang="nl-BE" dirty="0" err="1"/>
              <a:t>Published</a:t>
            </a:r>
            <a:r>
              <a:rPr lang="nl-BE" dirty="0"/>
              <a:t> 2023-03-01 - v1.0 - CONFIDENTIAL&gt;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834E3-F263-413D-8EDF-1D3B36989B9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777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D7E0-E51F-BEBC-7363-92F3942BC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ISO27001/ISO9001 </a:t>
            </a:r>
            <a:br>
              <a:rPr lang="en-GB" dirty="0"/>
            </a:br>
            <a:r>
              <a:rPr lang="en-GB" dirty="0"/>
              <a:t>(and/or other ISO standards)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799BB-30DB-AEF0-9DCB-280206736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Auditee guidance &amp; preparation </a:t>
            </a:r>
          </a:p>
          <a:p>
            <a:r>
              <a:rPr lang="en-GB"/>
              <a:t>for internal and external audit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4236-138F-5833-E25B-7D8166C7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836F-79EF-47C3-B4B2-64A25986280D}" type="datetime1">
              <a:rPr lang="en-GB" smtClean="0"/>
              <a:t>04/09/2026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7884-8F8D-2081-B80E-D7CE2E25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4EDAD-86A0-A272-D51A-9FF598C3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34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64876-7F76-E94A-833C-65FB9314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A48DC11-DA23-5174-8BFE-680BA150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(Hidden) User Guide - How to use this deck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4F010-D8D7-E8B7-D71F-161A250A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Slides with the “no-presentation” icon in upper right corner are </a:t>
            </a:r>
            <a:r>
              <a:rPr lang="en-GB" b="1" dirty="0">
                <a:solidFill>
                  <a:schemeClr val="bg1"/>
                </a:solidFill>
              </a:rPr>
              <a:t>hidden </a:t>
            </a:r>
          </a:p>
          <a:p>
            <a:r>
              <a:rPr lang="en-GB" dirty="0">
                <a:solidFill>
                  <a:schemeClr val="bg1"/>
                </a:solidFill>
              </a:rPr>
              <a:t>You’ll find some guidance, hints and tips </a:t>
            </a:r>
            <a:r>
              <a:rPr lang="en-GB" b="1" u="sng" dirty="0">
                <a:solidFill>
                  <a:schemeClr val="bg1"/>
                </a:solidFill>
              </a:rPr>
              <a:t>at the end of the presentation</a:t>
            </a:r>
          </a:p>
          <a:p>
            <a:r>
              <a:rPr lang="en-GB" dirty="0">
                <a:solidFill>
                  <a:schemeClr val="bg1"/>
                </a:solidFill>
              </a:rPr>
              <a:t>Presentation has no graphical layout, you can add company layout to it, as you wish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89B198-9E44-99D6-C6B6-B3C376A6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>
                <a:solidFill>
                  <a:schemeClr val="bg1"/>
                </a:solidFill>
              </a:rPr>
              <a:t>04/09/2026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918DF9-8AEF-BD58-1AD1-5B729E21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CONFIDENTIAL - INTERNAL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8F7163-C283-CF3D-12CB-4CB50A2D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>
                <a:solidFill>
                  <a:schemeClr val="bg1"/>
                </a:solidFill>
              </a:rPr>
              <a:t>2</a:t>
            </a:fld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916B85-E4E2-F738-550A-436933E6A8A7}"/>
              </a:ext>
            </a:extLst>
          </p:cNvPr>
          <p:cNvGrpSpPr/>
          <p:nvPr/>
        </p:nvGrpSpPr>
        <p:grpSpPr>
          <a:xfrm>
            <a:off x="11031643" y="326619"/>
            <a:ext cx="914400" cy="914400"/>
            <a:chOff x="10879243" y="174219"/>
            <a:chExt cx="914400" cy="914400"/>
          </a:xfrm>
        </p:grpSpPr>
        <p:pic>
          <p:nvPicPr>
            <p:cNvPr id="18" name="Graphic 17" descr="Hidden slide, not shown during presentation">
              <a:extLst>
                <a:ext uri="{FF2B5EF4-FFF2-40B4-BE49-F238E27FC236}">
                  <a16:creationId xmlns:a16="http://schemas.microsoft.com/office/drawing/2014/main" id="{F529A996-733E-3A14-1128-B0597AC373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9243" y="174219"/>
              <a:ext cx="914400" cy="914400"/>
            </a:xfrm>
            <a:prstGeom prst="rect">
              <a:avLst/>
            </a:prstGeom>
          </p:spPr>
        </p:pic>
        <p:sp>
          <p:nvSpPr>
            <p:cNvPr id="19" name="Graphic 3" descr="No sign with solid fill">
              <a:extLst>
                <a:ext uri="{FF2B5EF4-FFF2-40B4-BE49-F238E27FC236}">
                  <a16:creationId xmlns:a16="http://schemas.microsoft.com/office/drawing/2014/main" id="{DCA6AC02-28F0-3D76-C38D-99DD50CCF158}"/>
                </a:ext>
              </a:extLst>
            </p:cNvPr>
            <p:cNvSpPr/>
            <p:nvPr/>
          </p:nvSpPr>
          <p:spPr>
            <a:xfrm>
              <a:off x="10974493" y="269469"/>
              <a:ext cx="723900" cy="723900"/>
            </a:xfrm>
            <a:custGeom>
              <a:avLst/>
              <a:gdLst>
                <a:gd name="csX0" fmla="*/ 361950 w 723900"/>
                <a:gd name="csY0" fmla="*/ 0 h 723900"/>
                <a:gd name="csX1" fmla="*/ 0 w 723900"/>
                <a:gd name="csY1" fmla="*/ 361950 h 723900"/>
                <a:gd name="csX2" fmla="*/ 361950 w 723900"/>
                <a:gd name="csY2" fmla="*/ 723900 h 723900"/>
                <a:gd name="csX3" fmla="*/ 723900 w 723900"/>
                <a:gd name="csY3" fmla="*/ 361950 h 723900"/>
                <a:gd name="csX4" fmla="*/ 361950 w 723900"/>
                <a:gd name="csY4" fmla="*/ 0 h 723900"/>
                <a:gd name="csX5" fmla="*/ 114300 w 723900"/>
                <a:gd name="csY5" fmla="*/ 361950 h 723900"/>
                <a:gd name="csX6" fmla="*/ 151448 w 723900"/>
                <a:gd name="csY6" fmla="*/ 232410 h 723900"/>
                <a:gd name="csX7" fmla="*/ 492443 w 723900"/>
                <a:gd name="csY7" fmla="*/ 573405 h 723900"/>
                <a:gd name="csX8" fmla="*/ 361950 w 723900"/>
                <a:gd name="csY8" fmla="*/ 609600 h 723900"/>
                <a:gd name="csX9" fmla="*/ 114300 w 723900"/>
                <a:gd name="csY9" fmla="*/ 361950 h 723900"/>
                <a:gd name="csX10" fmla="*/ 572453 w 723900"/>
                <a:gd name="csY10" fmla="*/ 491490 h 723900"/>
                <a:gd name="csX11" fmla="*/ 232410 w 723900"/>
                <a:gd name="csY11" fmla="*/ 151448 h 723900"/>
                <a:gd name="csX12" fmla="*/ 361950 w 723900"/>
                <a:gd name="csY12" fmla="*/ 114300 h 723900"/>
                <a:gd name="csX13" fmla="*/ 609600 w 723900"/>
                <a:gd name="csY13" fmla="*/ 361950 h 723900"/>
                <a:gd name="csX14" fmla="*/ 572453 w 723900"/>
                <a:gd name="csY14" fmla="*/ 49149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114300" y="361950"/>
                  </a:moveTo>
                  <a:cubicBezTo>
                    <a:pt x="114300" y="314325"/>
                    <a:pt x="127635" y="269558"/>
                    <a:pt x="151448" y="232410"/>
                  </a:cubicBezTo>
                  <a:lnTo>
                    <a:pt x="492443" y="573405"/>
                  </a:lnTo>
                  <a:cubicBezTo>
                    <a:pt x="454343" y="596265"/>
                    <a:pt x="409575" y="609600"/>
                    <a:pt x="361950" y="609600"/>
                  </a:cubicBezTo>
                  <a:cubicBezTo>
                    <a:pt x="225743" y="609600"/>
                    <a:pt x="114300" y="498158"/>
                    <a:pt x="114300" y="361950"/>
                  </a:cubicBezTo>
                  <a:close/>
                  <a:moveTo>
                    <a:pt x="572453" y="491490"/>
                  </a:moveTo>
                  <a:lnTo>
                    <a:pt x="232410" y="151448"/>
                  </a:lnTo>
                  <a:cubicBezTo>
                    <a:pt x="269558" y="127635"/>
                    <a:pt x="314325" y="114300"/>
                    <a:pt x="361950" y="114300"/>
                  </a:cubicBezTo>
                  <a:cubicBezTo>
                    <a:pt x="498158" y="114300"/>
                    <a:pt x="609600" y="225743"/>
                    <a:pt x="609600" y="361950"/>
                  </a:cubicBezTo>
                  <a:cubicBezTo>
                    <a:pt x="609600" y="409575"/>
                    <a:pt x="596265" y="454343"/>
                    <a:pt x="572453" y="49149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6786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10631-7FCA-B081-8203-A0FF8511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idden slide, not shown during presentation">
            <a:extLst>
              <a:ext uri="{FF2B5EF4-FFF2-40B4-BE49-F238E27FC236}">
                <a16:creationId xmlns:a16="http://schemas.microsoft.com/office/drawing/2014/main" id="{DA519D9D-CE1C-A24A-D305-A8FB05361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0C3D342-4448-ECDE-109C-4EBDECE8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First time – Time needed - +/- 45’-60’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E35F1-275A-25BE-CB80-8BFFF0CB5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Keep it simple,</a:t>
            </a:r>
          </a:p>
          <a:p>
            <a:r>
              <a:rPr lang="en-GB" dirty="0">
                <a:solidFill>
                  <a:schemeClr val="bg1"/>
                </a:solidFill>
              </a:rPr>
              <a:t>Simply explain what you normally do</a:t>
            </a:r>
          </a:p>
          <a:p>
            <a:r>
              <a:rPr lang="en-GB" dirty="0">
                <a:solidFill>
                  <a:schemeClr val="bg1"/>
                </a:solidFill>
              </a:rPr>
              <a:t>Add reference to you daily job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What is in your agenda.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History of last month, last year, …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Planning for Next month, next year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A80BE19-8B4B-1F0B-F71F-CC19B1EB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>
                <a:solidFill>
                  <a:schemeClr val="bg1"/>
                </a:solidFill>
              </a:rPr>
              <a:t>04/09/2026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235AA5-B33C-C167-F3FB-6A270F42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CONFIDENTIAL - INTERNAL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A12FEC-CEA1-3169-0FD5-BE89610B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>
                <a:solidFill>
                  <a:schemeClr val="bg1"/>
                </a:solidFill>
              </a:rPr>
              <a:t>3</a:t>
            </a:fld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3EF04A-5B40-08F4-ACE9-F2A375E8E800}"/>
              </a:ext>
            </a:extLst>
          </p:cNvPr>
          <p:cNvGrpSpPr/>
          <p:nvPr/>
        </p:nvGrpSpPr>
        <p:grpSpPr>
          <a:xfrm>
            <a:off x="11031643" y="326619"/>
            <a:ext cx="914400" cy="914400"/>
            <a:chOff x="10879243" y="174219"/>
            <a:chExt cx="914400" cy="914400"/>
          </a:xfrm>
        </p:grpSpPr>
        <p:pic>
          <p:nvPicPr>
            <p:cNvPr id="5" name="Graphic 4" descr="Hidden slide, not shown during presentation">
              <a:extLst>
                <a:ext uri="{FF2B5EF4-FFF2-40B4-BE49-F238E27FC236}">
                  <a16:creationId xmlns:a16="http://schemas.microsoft.com/office/drawing/2014/main" id="{0E78A875-7D87-3BE4-CE5E-2D0A8DE4AD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79243" y="174219"/>
              <a:ext cx="914400" cy="914400"/>
            </a:xfrm>
            <a:prstGeom prst="rect">
              <a:avLst/>
            </a:prstGeom>
          </p:spPr>
        </p:pic>
        <p:sp>
          <p:nvSpPr>
            <p:cNvPr id="11" name="Graphic 3" descr="No sign with solid fill">
              <a:extLst>
                <a:ext uri="{FF2B5EF4-FFF2-40B4-BE49-F238E27FC236}">
                  <a16:creationId xmlns:a16="http://schemas.microsoft.com/office/drawing/2014/main" id="{9BD972CC-54E9-7F93-799B-D8A97995EBF6}"/>
                </a:ext>
              </a:extLst>
            </p:cNvPr>
            <p:cNvSpPr/>
            <p:nvPr/>
          </p:nvSpPr>
          <p:spPr>
            <a:xfrm>
              <a:off x="10974493" y="269469"/>
              <a:ext cx="723900" cy="723900"/>
            </a:xfrm>
            <a:custGeom>
              <a:avLst/>
              <a:gdLst>
                <a:gd name="csX0" fmla="*/ 361950 w 723900"/>
                <a:gd name="csY0" fmla="*/ 0 h 723900"/>
                <a:gd name="csX1" fmla="*/ 0 w 723900"/>
                <a:gd name="csY1" fmla="*/ 361950 h 723900"/>
                <a:gd name="csX2" fmla="*/ 361950 w 723900"/>
                <a:gd name="csY2" fmla="*/ 723900 h 723900"/>
                <a:gd name="csX3" fmla="*/ 723900 w 723900"/>
                <a:gd name="csY3" fmla="*/ 361950 h 723900"/>
                <a:gd name="csX4" fmla="*/ 361950 w 723900"/>
                <a:gd name="csY4" fmla="*/ 0 h 723900"/>
                <a:gd name="csX5" fmla="*/ 114300 w 723900"/>
                <a:gd name="csY5" fmla="*/ 361950 h 723900"/>
                <a:gd name="csX6" fmla="*/ 151448 w 723900"/>
                <a:gd name="csY6" fmla="*/ 232410 h 723900"/>
                <a:gd name="csX7" fmla="*/ 492443 w 723900"/>
                <a:gd name="csY7" fmla="*/ 573405 h 723900"/>
                <a:gd name="csX8" fmla="*/ 361950 w 723900"/>
                <a:gd name="csY8" fmla="*/ 609600 h 723900"/>
                <a:gd name="csX9" fmla="*/ 114300 w 723900"/>
                <a:gd name="csY9" fmla="*/ 361950 h 723900"/>
                <a:gd name="csX10" fmla="*/ 572453 w 723900"/>
                <a:gd name="csY10" fmla="*/ 491490 h 723900"/>
                <a:gd name="csX11" fmla="*/ 232410 w 723900"/>
                <a:gd name="csY11" fmla="*/ 151448 h 723900"/>
                <a:gd name="csX12" fmla="*/ 361950 w 723900"/>
                <a:gd name="csY12" fmla="*/ 114300 h 723900"/>
                <a:gd name="csX13" fmla="*/ 609600 w 723900"/>
                <a:gd name="csY13" fmla="*/ 361950 h 723900"/>
                <a:gd name="csX14" fmla="*/ 572453 w 723900"/>
                <a:gd name="csY14" fmla="*/ 49149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114300" y="361950"/>
                  </a:moveTo>
                  <a:cubicBezTo>
                    <a:pt x="114300" y="314325"/>
                    <a:pt x="127635" y="269558"/>
                    <a:pt x="151448" y="232410"/>
                  </a:cubicBezTo>
                  <a:lnTo>
                    <a:pt x="492443" y="573405"/>
                  </a:lnTo>
                  <a:cubicBezTo>
                    <a:pt x="454343" y="596265"/>
                    <a:pt x="409575" y="609600"/>
                    <a:pt x="361950" y="609600"/>
                  </a:cubicBezTo>
                  <a:cubicBezTo>
                    <a:pt x="225743" y="609600"/>
                    <a:pt x="114300" y="498158"/>
                    <a:pt x="114300" y="361950"/>
                  </a:cubicBezTo>
                  <a:close/>
                  <a:moveTo>
                    <a:pt x="572453" y="491490"/>
                  </a:moveTo>
                  <a:lnTo>
                    <a:pt x="232410" y="151448"/>
                  </a:lnTo>
                  <a:cubicBezTo>
                    <a:pt x="269558" y="127635"/>
                    <a:pt x="314325" y="114300"/>
                    <a:pt x="361950" y="114300"/>
                  </a:cubicBezTo>
                  <a:cubicBezTo>
                    <a:pt x="498158" y="114300"/>
                    <a:pt x="609600" y="225743"/>
                    <a:pt x="609600" y="361950"/>
                  </a:cubicBezTo>
                  <a:cubicBezTo>
                    <a:pt x="609600" y="409575"/>
                    <a:pt x="596265" y="454343"/>
                    <a:pt x="572453" y="49149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47281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ED444-70B1-9A96-F531-58E7A6D2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idden slide, not shown during presentation">
            <a:extLst>
              <a:ext uri="{FF2B5EF4-FFF2-40B4-BE49-F238E27FC236}">
                <a16:creationId xmlns:a16="http://schemas.microsoft.com/office/drawing/2014/main" id="{1A9D0599-016B-EFE0-BA46-17F2DAA59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2A26EB6-77CB-BE82-E932-3EEB7714E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(Hidden) yearly update - Time needed - +/- 30’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D3F7B-F319-CEF5-04D9-3533726CC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Copy/paste last year version to new one</a:t>
            </a:r>
          </a:p>
          <a:p>
            <a:r>
              <a:rPr lang="en-GB" dirty="0">
                <a:solidFill>
                  <a:schemeClr val="bg1"/>
                </a:solidFill>
              </a:rPr>
              <a:t>Update last year version with this year info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038758-6C4E-E8B3-3B80-5F8F8DC4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>
                <a:solidFill>
                  <a:schemeClr val="bg1"/>
                </a:solidFill>
              </a:rPr>
              <a:t>04/09/2026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0351DC-486A-141E-2D1E-810AC5B11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CONFIDENTIAL - INTERNAL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A4798C-EC5B-0EFC-0951-0ACA4D69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>
                <a:solidFill>
                  <a:schemeClr val="bg1"/>
                </a:solidFill>
              </a:rPr>
              <a:t>4</a:t>
            </a:fld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7E3636-3D3B-1870-D7A8-35C925411833}"/>
              </a:ext>
            </a:extLst>
          </p:cNvPr>
          <p:cNvGrpSpPr/>
          <p:nvPr/>
        </p:nvGrpSpPr>
        <p:grpSpPr>
          <a:xfrm>
            <a:off x="11031643" y="326619"/>
            <a:ext cx="914400" cy="914400"/>
            <a:chOff x="10879243" y="174219"/>
            <a:chExt cx="914400" cy="914400"/>
          </a:xfrm>
        </p:grpSpPr>
        <p:pic>
          <p:nvPicPr>
            <p:cNvPr id="13" name="Graphic 12" descr="Hidden slide, not shown during presentation">
              <a:extLst>
                <a:ext uri="{FF2B5EF4-FFF2-40B4-BE49-F238E27FC236}">
                  <a16:creationId xmlns:a16="http://schemas.microsoft.com/office/drawing/2014/main" id="{7FE32A53-F7D8-7B68-E9D7-AADE9FA278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79243" y="174219"/>
              <a:ext cx="914400" cy="914400"/>
            </a:xfrm>
            <a:prstGeom prst="rect">
              <a:avLst/>
            </a:prstGeom>
          </p:spPr>
        </p:pic>
        <p:sp>
          <p:nvSpPr>
            <p:cNvPr id="14" name="Graphic 3" descr="No sign with solid fill">
              <a:extLst>
                <a:ext uri="{FF2B5EF4-FFF2-40B4-BE49-F238E27FC236}">
                  <a16:creationId xmlns:a16="http://schemas.microsoft.com/office/drawing/2014/main" id="{FB5F5309-3620-6AF8-B705-8C22A69090A3}"/>
                </a:ext>
              </a:extLst>
            </p:cNvPr>
            <p:cNvSpPr/>
            <p:nvPr/>
          </p:nvSpPr>
          <p:spPr>
            <a:xfrm>
              <a:off x="10974493" y="269469"/>
              <a:ext cx="723900" cy="723900"/>
            </a:xfrm>
            <a:custGeom>
              <a:avLst/>
              <a:gdLst>
                <a:gd name="csX0" fmla="*/ 361950 w 723900"/>
                <a:gd name="csY0" fmla="*/ 0 h 723900"/>
                <a:gd name="csX1" fmla="*/ 0 w 723900"/>
                <a:gd name="csY1" fmla="*/ 361950 h 723900"/>
                <a:gd name="csX2" fmla="*/ 361950 w 723900"/>
                <a:gd name="csY2" fmla="*/ 723900 h 723900"/>
                <a:gd name="csX3" fmla="*/ 723900 w 723900"/>
                <a:gd name="csY3" fmla="*/ 361950 h 723900"/>
                <a:gd name="csX4" fmla="*/ 361950 w 723900"/>
                <a:gd name="csY4" fmla="*/ 0 h 723900"/>
                <a:gd name="csX5" fmla="*/ 114300 w 723900"/>
                <a:gd name="csY5" fmla="*/ 361950 h 723900"/>
                <a:gd name="csX6" fmla="*/ 151448 w 723900"/>
                <a:gd name="csY6" fmla="*/ 232410 h 723900"/>
                <a:gd name="csX7" fmla="*/ 492443 w 723900"/>
                <a:gd name="csY7" fmla="*/ 573405 h 723900"/>
                <a:gd name="csX8" fmla="*/ 361950 w 723900"/>
                <a:gd name="csY8" fmla="*/ 609600 h 723900"/>
                <a:gd name="csX9" fmla="*/ 114300 w 723900"/>
                <a:gd name="csY9" fmla="*/ 361950 h 723900"/>
                <a:gd name="csX10" fmla="*/ 572453 w 723900"/>
                <a:gd name="csY10" fmla="*/ 491490 h 723900"/>
                <a:gd name="csX11" fmla="*/ 232410 w 723900"/>
                <a:gd name="csY11" fmla="*/ 151448 h 723900"/>
                <a:gd name="csX12" fmla="*/ 361950 w 723900"/>
                <a:gd name="csY12" fmla="*/ 114300 h 723900"/>
                <a:gd name="csX13" fmla="*/ 609600 w 723900"/>
                <a:gd name="csY13" fmla="*/ 361950 h 723900"/>
                <a:gd name="csX14" fmla="*/ 572453 w 723900"/>
                <a:gd name="csY14" fmla="*/ 49149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114300" y="361950"/>
                  </a:moveTo>
                  <a:cubicBezTo>
                    <a:pt x="114300" y="314325"/>
                    <a:pt x="127635" y="269558"/>
                    <a:pt x="151448" y="232410"/>
                  </a:cubicBezTo>
                  <a:lnTo>
                    <a:pt x="492443" y="573405"/>
                  </a:lnTo>
                  <a:cubicBezTo>
                    <a:pt x="454343" y="596265"/>
                    <a:pt x="409575" y="609600"/>
                    <a:pt x="361950" y="609600"/>
                  </a:cubicBezTo>
                  <a:cubicBezTo>
                    <a:pt x="225743" y="609600"/>
                    <a:pt x="114300" y="498158"/>
                    <a:pt x="114300" y="361950"/>
                  </a:cubicBezTo>
                  <a:close/>
                  <a:moveTo>
                    <a:pt x="572453" y="491490"/>
                  </a:moveTo>
                  <a:lnTo>
                    <a:pt x="232410" y="151448"/>
                  </a:lnTo>
                  <a:cubicBezTo>
                    <a:pt x="269558" y="127635"/>
                    <a:pt x="314325" y="114300"/>
                    <a:pt x="361950" y="114300"/>
                  </a:cubicBezTo>
                  <a:cubicBezTo>
                    <a:pt x="498158" y="114300"/>
                    <a:pt x="609600" y="225743"/>
                    <a:pt x="609600" y="361950"/>
                  </a:cubicBezTo>
                  <a:cubicBezTo>
                    <a:pt x="609600" y="409575"/>
                    <a:pt x="596265" y="454343"/>
                    <a:pt x="572453" y="49149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3748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EA32E-F194-0B45-9321-95C0CB8C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Hidden slide, not shown during presentation">
            <a:extLst>
              <a:ext uri="{FF2B5EF4-FFF2-40B4-BE49-F238E27FC236}">
                <a16:creationId xmlns:a16="http://schemas.microsoft.com/office/drawing/2014/main" id="{9E9CC9BE-E8B8-3A29-FCAB-8D7BF2BB2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BDEC1AB-4F37-EC73-6D77-1E1A6375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Data protection / security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12571-5F57-CA68-A267-04F82F243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Avoid data leakage</a:t>
            </a:r>
          </a:p>
          <a:p>
            <a:r>
              <a:rPr lang="en-GB" dirty="0">
                <a:solidFill>
                  <a:schemeClr val="bg1"/>
                </a:solidFill>
              </a:rPr>
              <a:t>Add </a:t>
            </a:r>
            <a:r>
              <a:rPr lang="en-GB" b="1" dirty="0">
                <a:solidFill>
                  <a:schemeClr val="bg1"/>
                </a:solidFill>
              </a:rPr>
              <a:t>links and references </a:t>
            </a:r>
            <a:r>
              <a:rPr lang="en-GB" dirty="0">
                <a:solidFill>
                  <a:schemeClr val="bg1"/>
                </a:solidFill>
              </a:rPr>
              <a:t>to documentation and events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Click on links during presentation</a:t>
            </a:r>
          </a:p>
          <a:p>
            <a:r>
              <a:rPr lang="en-GB" dirty="0">
                <a:solidFill>
                  <a:schemeClr val="bg1"/>
                </a:solidFill>
              </a:rPr>
              <a:t>Do not add sensitive information directly to slides</a:t>
            </a:r>
          </a:p>
          <a:p>
            <a:r>
              <a:rPr lang="en-GB" dirty="0">
                <a:solidFill>
                  <a:schemeClr val="bg1"/>
                </a:solidFill>
              </a:rPr>
              <a:t>Only mention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Document name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Version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Last review or publication date 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Owner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359E8D-E53D-A107-13E2-2F4C6E95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>
                <a:solidFill>
                  <a:schemeClr val="bg1"/>
                </a:solidFill>
              </a:rPr>
              <a:t>04/09/2026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D4DE1E-A049-0F7E-3B08-31DADEC7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CONFIDENTIAL - INTERNAL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4C6216-3912-9634-6AAC-54E72894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>
                <a:solidFill>
                  <a:schemeClr val="bg1"/>
                </a:solidFill>
              </a:rPr>
              <a:t>5</a:t>
            </a:fld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19D93B-9950-7154-EC4E-77CB7775144D}"/>
              </a:ext>
            </a:extLst>
          </p:cNvPr>
          <p:cNvGrpSpPr/>
          <p:nvPr/>
        </p:nvGrpSpPr>
        <p:grpSpPr>
          <a:xfrm>
            <a:off x="11031643" y="326619"/>
            <a:ext cx="914400" cy="914400"/>
            <a:chOff x="10879243" y="174219"/>
            <a:chExt cx="914400" cy="914400"/>
          </a:xfrm>
        </p:grpSpPr>
        <p:pic>
          <p:nvPicPr>
            <p:cNvPr id="5" name="Graphic 4" descr="Hidden slide, not shown during presentation">
              <a:extLst>
                <a:ext uri="{FF2B5EF4-FFF2-40B4-BE49-F238E27FC236}">
                  <a16:creationId xmlns:a16="http://schemas.microsoft.com/office/drawing/2014/main" id="{AE6B6BA6-8E51-2C5A-D53C-D397F82BAF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79243" y="174219"/>
              <a:ext cx="914400" cy="914400"/>
            </a:xfrm>
            <a:prstGeom prst="rect">
              <a:avLst/>
            </a:prstGeom>
          </p:spPr>
        </p:pic>
        <p:sp>
          <p:nvSpPr>
            <p:cNvPr id="11" name="Graphic 3" descr="No sign with solid fill">
              <a:extLst>
                <a:ext uri="{FF2B5EF4-FFF2-40B4-BE49-F238E27FC236}">
                  <a16:creationId xmlns:a16="http://schemas.microsoft.com/office/drawing/2014/main" id="{0440498C-9842-004C-8B5B-499DACD856C2}"/>
                </a:ext>
              </a:extLst>
            </p:cNvPr>
            <p:cNvSpPr/>
            <p:nvPr/>
          </p:nvSpPr>
          <p:spPr>
            <a:xfrm>
              <a:off x="10974493" y="269469"/>
              <a:ext cx="723900" cy="723900"/>
            </a:xfrm>
            <a:custGeom>
              <a:avLst/>
              <a:gdLst>
                <a:gd name="csX0" fmla="*/ 361950 w 723900"/>
                <a:gd name="csY0" fmla="*/ 0 h 723900"/>
                <a:gd name="csX1" fmla="*/ 0 w 723900"/>
                <a:gd name="csY1" fmla="*/ 361950 h 723900"/>
                <a:gd name="csX2" fmla="*/ 361950 w 723900"/>
                <a:gd name="csY2" fmla="*/ 723900 h 723900"/>
                <a:gd name="csX3" fmla="*/ 723900 w 723900"/>
                <a:gd name="csY3" fmla="*/ 361950 h 723900"/>
                <a:gd name="csX4" fmla="*/ 361950 w 723900"/>
                <a:gd name="csY4" fmla="*/ 0 h 723900"/>
                <a:gd name="csX5" fmla="*/ 114300 w 723900"/>
                <a:gd name="csY5" fmla="*/ 361950 h 723900"/>
                <a:gd name="csX6" fmla="*/ 151448 w 723900"/>
                <a:gd name="csY6" fmla="*/ 232410 h 723900"/>
                <a:gd name="csX7" fmla="*/ 492443 w 723900"/>
                <a:gd name="csY7" fmla="*/ 573405 h 723900"/>
                <a:gd name="csX8" fmla="*/ 361950 w 723900"/>
                <a:gd name="csY8" fmla="*/ 609600 h 723900"/>
                <a:gd name="csX9" fmla="*/ 114300 w 723900"/>
                <a:gd name="csY9" fmla="*/ 361950 h 723900"/>
                <a:gd name="csX10" fmla="*/ 572453 w 723900"/>
                <a:gd name="csY10" fmla="*/ 491490 h 723900"/>
                <a:gd name="csX11" fmla="*/ 232410 w 723900"/>
                <a:gd name="csY11" fmla="*/ 151448 h 723900"/>
                <a:gd name="csX12" fmla="*/ 361950 w 723900"/>
                <a:gd name="csY12" fmla="*/ 114300 h 723900"/>
                <a:gd name="csX13" fmla="*/ 609600 w 723900"/>
                <a:gd name="csY13" fmla="*/ 361950 h 723900"/>
                <a:gd name="csX14" fmla="*/ 572453 w 723900"/>
                <a:gd name="csY14" fmla="*/ 49149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114300" y="361950"/>
                  </a:moveTo>
                  <a:cubicBezTo>
                    <a:pt x="114300" y="314325"/>
                    <a:pt x="127635" y="269558"/>
                    <a:pt x="151448" y="232410"/>
                  </a:cubicBezTo>
                  <a:lnTo>
                    <a:pt x="492443" y="573405"/>
                  </a:lnTo>
                  <a:cubicBezTo>
                    <a:pt x="454343" y="596265"/>
                    <a:pt x="409575" y="609600"/>
                    <a:pt x="361950" y="609600"/>
                  </a:cubicBezTo>
                  <a:cubicBezTo>
                    <a:pt x="225743" y="609600"/>
                    <a:pt x="114300" y="498158"/>
                    <a:pt x="114300" y="361950"/>
                  </a:cubicBezTo>
                  <a:close/>
                  <a:moveTo>
                    <a:pt x="572453" y="491490"/>
                  </a:moveTo>
                  <a:lnTo>
                    <a:pt x="232410" y="151448"/>
                  </a:lnTo>
                  <a:cubicBezTo>
                    <a:pt x="269558" y="127635"/>
                    <a:pt x="314325" y="114300"/>
                    <a:pt x="361950" y="114300"/>
                  </a:cubicBezTo>
                  <a:cubicBezTo>
                    <a:pt x="498158" y="114300"/>
                    <a:pt x="609600" y="225743"/>
                    <a:pt x="609600" y="361950"/>
                  </a:cubicBezTo>
                  <a:cubicBezTo>
                    <a:pt x="609600" y="409575"/>
                    <a:pt x="596265" y="454343"/>
                    <a:pt x="572453" y="49149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0873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team (who are we)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6DED08-6D96-5014-26D0-DFF218E5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Introduce yourself</a:t>
            </a:r>
          </a:p>
          <a:p>
            <a:r>
              <a:rPr lang="en-GB" dirty="0"/>
              <a:t>Introduce team members in meeting</a:t>
            </a:r>
          </a:p>
          <a:p>
            <a:r>
              <a:rPr lang="en-GB" dirty="0"/>
              <a:t>Team composition</a:t>
            </a:r>
          </a:p>
          <a:p>
            <a:pPr lvl="1"/>
            <a:r>
              <a:rPr lang="en-GB" dirty="0"/>
              <a:t>Manager</a:t>
            </a:r>
          </a:p>
          <a:p>
            <a:pPr lvl="1"/>
            <a:r>
              <a:rPr lang="en-GB" dirty="0"/>
              <a:t>Team Lead</a:t>
            </a:r>
          </a:p>
          <a:p>
            <a:pPr lvl="1"/>
            <a:r>
              <a:rPr lang="en-GB" dirty="0"/>
              <a:t>Members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6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DA1E0D-DD3E-5F0A-1894-04F43EDFB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490" y="3751117"/>
            <a:ext cx="3304310" cy="220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64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team (position in organigram)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A6DED08-6D96-5014-26D0-DFF218E5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organigram</a:t>
            </a:r>
          </a:p>
          <a:p>
            <a:r>
              <a:rPr lang="en-GB" dirty="0"/>
              <a:t>Show position of team in relation to other departments and/or teams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7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26BD50-E205-D8C4-A09C-C9A31A106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645" y="4091132"/>
            <a:ext cx="3399155" cy="22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responsibility, main tasks and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Roles &amp; Responsibilities</a:t>
            </a:r>
          </a:p>
          <a:p>
            <a:r>
              <a:rPr lang="en-GB" dirty="0"/>
              <a:t>Tasks</a:t>
            </a:r>
          </a:p>
          <a:p>
            <a:r>
              <a:rPr lang="en-GB" dirty="0"/>
              <a:t>Processes in control (ref. process turtle)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CONFIDENTIAL - INTERNAL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8</a:t>
            </a:fld>
            <a:endParaRPr lang="en-GB"/>
          </a:p>
        </p:txBody>
      </p:sp>
      <p:pic>
        <p:nvPicPr>
          <p:cNvPr id="4" name="Graphic 3" descr="Clipboard Mixed with solid fill">
            <a:extLst>
              <a:ext uri="{FF2B5EF4-FFF2-40B4-BE49-F238E27FC236}">
                <a16:creationId xmlns:a16="http://schemas.microsoft.com/office/drawing/2014/main" id="{52E6A467-AE3F-E7CF-9FFE-B68F81243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4087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1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0786-8A38-BF5D-66AB-5D7DAE95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AEBA1B1-C2E3-76A0-E867-B01650DD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definition / turtle diagram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980F-F9EB-008C-A88C-22BFF221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Owner / Responsible for process (RASCI)</a:t>
            </a:r>
          </a:p>
          <a:p>
            <a:r>
              <a:rPr lang="en-GB" dirty="0"/>
              <a:t>Description of activities</a:t>
            </a:r>
          </a:p>
          <a:p>
            <a:r>
              <a:rPr lang="en-GB" dirty="0"/>
              <a:t>Parties involved</a:t>
            </a:r>
          </a:p>
          <a:p>
            <a:pPr lvl="1"/>
            <a:r>
              <a:rPr lang="en-GB" dirty="0"/>
              <a:t>Input from…</a:t>
            </a:r>
          </a:p>
          <a:p>
            <a:pPr lvl="1"/>
            <a:r>
              <a:rPr lang="en-GB" dirty="0"/>
              <a:t>Output to…</a:t>
            </a:r>
          </a:p>
          <a:p>
            <a:r>
              <a:rPr lang="en-GB" dirty="0"/>
              <a:t>Typical input categories, platforms, data &amp; documents</a:t>
            </a:r>
          </a:p>
          <a:p>
            <a:r>
              <a:rPr lang="en-GB" dirty="0"/>
              <a:t>Typical output categories, platforms, data &amp; documents</a:t>
            </a:r>
          </a:p>
          <a:p>
            <a:r>
              <a:rPr lang="en-GB" dirty="0"/>
              <a:t>Tools used</a:t>
            </a:r>
          </a:p>
          <a:p>
            <a:r>
              <a:rPr lang="en-GB" dirty="0"/>
              <a:t>Risks &amp; opportunities</a:t>
            </a:r>
          </a:p>
          <a:p>
            <a:r>
              <a:rPr lang="en-GB" dirty="0"/>
              <a:t>KPIs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2150EB-E9D7-2639-2BD7-58117108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22F111-74B9-1C4D-9022-0B51CD31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CONFIDENTIAL - INTERNAL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94A508-7F74-DF54-4A11-FE543600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33BF3-1189-DF4F-024C-218318528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183" y="4852565"/>
            <a:ext cx="2154617" cy="13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9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334D7-B30B-ECB7-1E1D-B2CB273B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9F9DF-A710-5777-1802-D03027E58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509"/>
            <a:ext cx="9144000" cy="432047"/>
          </a:xfrm>
        </p:spPr>
        <p:txBody>
          <a:bodyPr>
            <a:normAutofit/>
          </a:bodyPr>
          <a:lstStyle/>
          <a:p>
            <a:r>
              <a:rPr lang="nl-BE" sz="2000" dirty="0"/>
              <a:t>(2/2) TURTLE-diagram - General </a:t>
            </a:r>
            <a:r>
              <a:rPr lang="nl-BE" sz="2000" dirty="0" err="1"/>
              <a:t>introduction</a:t>
            </a:r>
            <a:r>
              <a:rPr lang="nl-BE" sz="2000" dirty="0"/>
              <a:t> – no </a:t>
            </a:r>
            <a:r>
              <a:rPr lang="nl-BE" sz="2000" dirty="0" err="1"/>
              <a:t>colors</a:t>
            </a:r>
            <a:endParaRPr lang="nl-BE" sz="2000" dirty="0"/>
          </a:p>
        </p:txBody>
      </p:sp>
      <p:sp>
        <p:nvSpPr>
          <p:cNvPr id="4" name="Ovaal 3">
            <a:extLst>
              <a:ext uri="{FF2B5EF4-FFF2-40B4-BE49-F238E27FC236}">
                <a16:creationId xmlns:a16="http://schemas.microsoft.com/office/drawing/2014/main" id="{459EE2BE-FB69-E961-C341-C472B446048B}"/>
              </a:ext>
            </a:extLst>
          </p:cNvPr>
          <p:cNvSpPr/>
          <p:nvPr/>
        </p:nvSpPr>
        <p:spPr>
          <a:xfrm>
            <a:off x="4373384" y="2489971"/>
            <a:ext cx="3384376" cy="18722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PROCES DESCRIPTION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(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tasks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)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CA37BE1F-A26A-EEAE-761D-DF0BB6422E0C}"/>
              </a:ext>
            </a:extLst>
          </p:cNvPr>
          <p:cNvSpPr/>
          <p:nvPr/>
        </p:nvSpPr>
        <p:spPr>
          <a:xfrm>
            <a:off x="1782622" y="1241473"/>
            <a:ext cx="2322385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schemeClr val="tx1"/>
                </a:solidFill>
                <a:latin typeface="Calibri"/>
              </a:rPr>
              <a:t>Sources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Input from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whom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8DCC7B4D-60CA-460B-C90C-9BFCADD07A8D}"/>
              </a:ext>
            </a:extLst>
          </p:cNvPr>
          <p:cNvSpPr/>
          <p:nvPr/>
        </p:nvSpPr>
        <p:spPr>
          <a:xfrm>
            <a:off x="8247780" y="1228539"/>
            <a:ext cx="2145506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schemeClr val="tx1"/>
                </a:solidFill>
                <a:latin typeface="Calibri"/>
              </a:rPr>
              <a:t>TARGETS</a:t>
            </a:r>
          </a:p>
          <a:p>
            <a:pPr algn="ctr"/>
            <a:r>
              <a:rPr lang="nl-BE" dirty="0">
                <a:solidFill>
                  <a:schemeClr val="tx1"/>
                </a:solidFill>
                <a:latin typeface="Calibri"/>
              </a:rPr>
              <a:t>Output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to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whom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CA40BB97-45B8-A026-BD4B-E44CF59A6E03}"/>
              </a:ext>
            </a:extLst>
          </p:cNvPr>
          <p:cNvSpPr/>
          <p:nvPr/>
        </p:nvSpPr>
        <p:spPr>
          <a:xfrm>
            <a:off x="8246936" y="4738943"/>
            <a:ext cx="2146351" cy="16036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MEASUREMENTS</a:t>
            </a:r>
          </a:p>
          <a:p>
            <a:pPr algn="ctr"/>
            <a:r>
              <a:rPr lang="nl-BE" b="1" dirty="0" err="1">
                <a:solidFill>
                  <a:schemeClr val="tx1"/>
                </a:solidFill>
                <a:latin typeface="Calibri"/>
              </a:rPr>
              <a:t>What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results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/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metrix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expected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</a:t>
            </a:r>
          </a:p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How do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you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measure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your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performance?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83DBBE2-D64D-358E-DBB6-86B7D23C1FE3}"/>
              </a:ext>
            </a:extLst>
          </p:cNvPr>
          <p:cNvSpPr/>
          <p:nvPr/>
        </p:nvSpPr>
        <p:spPr>
          <a:xfrm>
            <a:off x="1798713" y="4668641"/>
            <a:ext cx="2257078" cy="16739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METHODS &amp; TOOLS</a:t>
            </a:r>
          </a:p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How do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you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run the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processes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8A46EA5B-0C6B-7A93-22C6-B081F3F25119}"/>
              </a:ext>
            </a:extLst>
          </p:cNvPr>
          <p:cNvSpPr/>
          <p:nvPr/>
        </p:nvSpPr>
        <p:spPr>
          <a:xfrm>
            <a:off x="1798713" y="2489810"/>
            <a:ext cx="1512168" cy="18722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u="sng" dirty="0">
                <a:solidFill>
                  <a:prstClr val="black"/>
                </a:solidFill>
                <a:latin typeface="Calibri"/>
              </a:rPr>
              <a:t>INPUT</a:t>
            </a:r>
          </a:p>
          <a:p>
            <a:pPr algn="ctr"/>
            <a:r>
              <a:rPr lang="nl-BE" dirty="0" err="1">
                <a:solidFill>
                  <a:prstClr val="black"/>
                </a:solidFill>
                <a:latin typeface="Calibri"/>
              </a:rPr>
              <a:t>What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is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received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needed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BE" dirty="0" err="1">
                <a:solidFill>
                  <a:prstClr val="black"/>
                </a:solidFill>
                <a:latin typeface="Calibri"/>
              </a:rPr>
              <a:t>to</a:t>
            </a:r>
            <a:r>
              <a:rPr lang="nl-BE" dirty="0">
                <a:solidFill>
                  <a:prstClr val="black"/>
                </a:solidFill>
                <a:latin typeface="Calibri"/>
              </a:rPr>
              <a:t> start?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C3F6C782-8D0A-1D13-ED47-55938E757C24}"/>
              </a:ext>
            </a:extLst>
          </p:cNvPr>
          <p:cNvSpPr/>
          <p:nvPr/>
        </p:nvSpPr>
        <p:spPr>
          <a:xfrm>
            <a:off x="8718103" y="2489810"/>
            <a:ext cx="1675184" cy="18722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OUTPUT</a:t>
            </a:r>
          </a:p>
          <a:p>
            <a:pPr algn="ctr"/>
            <a:r>
              <a:rPr lang="nl-BE" b="1" dirty="0" err="1">
                <a:solidFill>
                  <a:schemeClr val="tx1"/>
                </a:solidFill>
                <a:latin typeface="Calibri"/>
              </a:rPr>
              <a:t>What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is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delivered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</a:t>
            </a:r>
          </a:p>
        </p:txBody>
      </p:sp>
      <p:sp>
        <p:nvSpPr>
          <p:cNvPr id="14" name="Ingekeepte PIJL-RECHTS 13">
            <a:extLst>
              <a:ext uri="{FF2B5EF4-FFF2-40B4-BE49-F238E27FC236}">
                <a16:creationId xmlns:a16="http://schemas.microsoft.com/office/drawing/2014/main" id="{32B558D1-8B27-4E8C-FF77-F2DFA6400AB2}"/>
              </a:ext>
            </a:extLst>
          </p:cNvPr>
          <p:cNvSpPr/>
          <p:nvPr/>
        </p:nvSpPr>
        <p:spPr>
          <a:xfrm rot="19010905">
            <a:off x="7494290" y="2347342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Ingekeepte PIJL-RECHTS 15">
            <a:extLst>
              <a:ext uri="{FF2B5EF4-FFF2-40B4-BE49-F238E27FC236}">
                <a16:creationId xmlns:a16="http://schemas.microsoft.com/office/drawing/2014/main" id="{74056221-9ABA-E462-84D6-66B1FE81D8F1}"/>
              </a:ext>
            </a:extLst>
          </p:cNvPr>
          <p:cNvSpPr/>
          <p:nvPr/>
        </p:nvSpPr>
        <p:spPr>
          <a:xfrm rot="3041088">
            <a:off x="3947973" y="2289732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Ingekeepte PIJL-RECHTS 16">
            <a:extLst>
              <a:ext uri="{FF2B5EF4-FFF2-40B4-BE49-F238E27FC236}">
                <a16:creationId xmlns:a16="http://schemas.microsoft.com/office/drawing/2014/main" id="{74227430-8537-1D1C-46B0-87E3DB88791B}"/>
              </a:ext>
            </a:extLst>
          </p:cNvPr>
          <p:cNvSpPr/>
          <p:nvPr/>
        </p:nvSpPr>
        <p:spPr>
          <a:xfrm rot="19235053">
            <a:off x="3977340" y="4145994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Ingekeepte PIJL-RECHTS 17">
            <a:extLst>
              <a:ext uri="{FF2B5EF4-FFF2-40B4-BE49-F238E27FC236}">
                <a16:creationId xmlns:a16="http://schemas.microsoft.com/office/drawing/2014/main" id="{CCAC9179-8721-B851-A65B-997680AC57C7}"/>
              </a:ext>
            </a:extLst>
          </p:cNvPr>
          <p:cNvSpPr/>
          <p:nvPr/>
        </p:nvSpPr>
        <p:spPr>
          <a:xfrm rot="3041088">
            <a:off x="7512909" y="4145994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Ingekeepte PIJL-RECHTS 18">
            <a:extLst>
              <a:ext uri="{FF2B5EF4-FFF2-40B4-BE49-F238E27FC236}">
                <a16:creationId xmlns:a16="http://schemas.microsoft.com/office/drawing/2014/main" id="{BA9899DD-17CB-B1E3-3249-8970A0FC47A6}"/>
              </a:ext>
            </a:extLst>
          </p:cNvPr>
          <p:cNvSpPr/>
          <p:nvPr/>
        </p:nvSpPr>
        <p:spPr>
          <a:xfrm>
            <a:off x="3411569" y="3209890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Ingekeepte PIJL-RECHTS 20">
            <a:extLst>
              <a:ext uri="{FF2B5EF4-FFF2-40B4-BE49-F238E27FC236}">
                <a16:creationId xmlns:a16="http://schemas.microsoft.com/office/drawing/2014/main" id="{21BCCA99-E0AB-3B56-843B-91E01CB0A03C}"/>
              </a:ext>
            </a:extLst>
          </p:cNvPr>
          <p:cNvSpPr/>
          <p:nvPr/>
        </p:nvSpPr>
        <p:spPr>
          <a:xfrm>
            <a:off x="7851737" y="3191734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26E1DCB1-FEF6-5F6C-D83F-93EE71F7DCAC}"/>
              </a:ext>
            </a:extLst>
          </p:cNvPr>
          <p:cNvSpPr/>
          <p:nvPr/>
        </p:nvSpPr>
        <p:spPr>
          <a:xfrm>
            <a:off x="4813460" y="5523918"/>
            <a:ext cx="2565080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BE" b="1" dirty="0">
                <a:solidFill>
                  <a:schemeClr val="tx1"/>
                </a:solidFill>
                <a:latin typeface="Calibri"/>
              </a:rPr>
              <a:t>RISK &amp; OPPORTUNITIES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Which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risks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? (-)</a:t>
            </a:r>
          </a:p>
          <a:p>
            <a:pPr algn="ctr"/>
            <a:r>
              <a:rPr lang="nl-BE" b="1" dirty="0" err="1">
                <a:solidFill>
                  <a:schemeClr val="tx1"/>
                </a:solidFill>
                <a:latin typeface="Calibri"/>
              </a:rPr>
              <a:t>Which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</a:t>
            </a:r>
            <a:r>
              <a:rPr lang="nl-BE" b="1" dirty="0" err="1">
                <a:solidFill>
                  <a:schemeClr val="tx1"/>
                </a:solidFill>
                <a:latin typeface="Calibri"/>
              </a:rPr>
              <a:t>opportunities</a:t>
            </a:r>
            <a:r>
              <a:rPr lang="nl-BE" b="1" dirty="0">
                <a:solidFill>
                  <a:schemeClr val="tx1"/>
                </a:solidFill>
                <a:latin typeface="Calibri"/>
              </a:rPr>
              <a:t> (+)?</a:t>
            </a:r>
          </a:p>
        </p:txBody>
      </p:sp>
      <p:sp>
        <p:nvSpPr>
          <p:cNvPr id="3" name="Ingekeepte PIJL-RECHTS 17">
            <a:extLst>
              <a:ext uri="{FF2B5EF4-FFF2-40B4-BE49-F238E27FC236}">
                <a16:creationId xmlns:a16="http://schemas.microsoft.com/office/drawing/2014/main" id="{769AADA9-DE8A-757A-273C-A39D2D585023}"/>
              </a:ext>
            </a:extLst>
          </p:cNvPr>
          <p:cNvSpPr/>
          <p:nvPr/>
        </p:nvSpPr>
        <p:spPr>
          <a:xfrm rot="5400000">
            <a:off x="5699956" y="4711112"/>
            <a:ext cx="792088" cy="432048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hthoek 4">
            <a:extLst>
              <a:ext uri="{FF2B5EF4-FFF2-40B4-BE49-F238E27FC236}">
                <a16:creationId xmlns:a16="http://schemas.microsoft.com/office/drawing/2014/main" id="{C8E81734-F1D3-98AD-2002-47D2B9B5D31F}"/>
              </a:ext>
            </a:extLst>
          </p:cNvPr>
          <p:cNvSpPr/>
          <p:nvPr/>
        </p:nvSpPr>
        <p:spPr>
          <a:xfrm>
            <a:off x="4783032" y="1238343"/>
            <a:ext cx="2565080" cy="93610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b="1" u="sng" dirty="0" err="1">
                <a:solidFill>
                  <a:schemeClr val="tx1"/>
                </a:solidFill>
                <a:latin typeface="Calibri"/>
              </a:rPr>
              <a:t>Process</a:t>
            </a:r>
            <a:r>
              <a:rPr lang="nl-BE" b="1" u="sng" dirty="0">
                <a:solidFill>
                  <a:schemeClr val="tx1"/>
                </a:solidFill>
                <a:latin typeface="Calibri"/>
              </a:rPr>
              <a:t> RASCI </a:t>
            </a:r>
            <a:br>
              <a:rPr lang="nl-BE" dirty="0">
                <a:solidFill>
                  <a:schemeClr val="tx1"/>
                </a:solidFill>
                <a:latin typeface="Calibri"/>
              </a:rPr>
            </a:br>
            <a:r>
              <a:rPr lang="nl-BE" dirty="0" err="1">
                <a:solidFill>
                  <a:schemeClr val="tx1"/>
                </a:solidFill>
                <a:latin typeface="Calibri"/>
              </a:rPr>
              <a:t>owner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(A), </a:t>
            </a:r>
            <a:r>
              <a:rPr lang="nl-BE" dirty="0" err="1">
                <a:solidFill>
                  <a:schemeClr val="tx1"/>
                </a:solidFill>
                <a:latin typeface="Calibri"/>
              </a:rPr>
              <a:t>Responsible</a:t>
            </a:r>
            <a:r>
              <a:rPr lang="nl-BE" dirty="0">
                <a:solidFill>
                  <a:schemeClr val="tx1"/>
                </a:solidFill>
                <a:latin typeface="Calibri"/>
              </a:rPr>
              <a:t> (R), …</a:t>
            </a:r>
          </a:p>
        </p:txBody>
      </p:sp>
    </p:spTree>
    <p:extLst>
      <p:ext uri="{BB962C8B-B14F-4D97-AF65-F5344CB8AC3E}">
        <p14:creationId xmlns:p14="http://schemas.microsoft.com/office/powerpoint/2010/main" val="3875631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Reference documentation (policies &amp; procedures)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List main </a:t>
            </a:r>
            <a:r>
              <a:rPr lang="en-GB" b="1" dirty="0"/>
              <a:t>policies</a:t>
            </a:r>
            <a:r>
              <a:rPr lang="en-GB" dirty="0"/>
              <a:t> you use/manage</a:t>
            </a:r>
          </a:p>
          <a:p>
            <a:r>
              <a:rPr lang="en-GB" dirty="0"/>
              <a:t>List most important </a:t>
            </a:r>
            <a:r>
              <a:rPr lang="en-GB" b="1" dirty="0"/>
              <a:t>procedures </a:t>
            </a:r>
            <a:r>
              <a:rPr lang="en-GB" dirty="0"/>
              <a:t>used</a:t>
            </a:r>
          </a:p>
          <a:p>
            <a:r>
              <a:rPr lang="en-GB" dirty="0"/>
              <a:t>List </a:t>
            </a:r>
            <a:r>
              <a:rPr lang="en-GB" b="1" dirty="0"/>
              <a:t>operational</a:t>
            </a:r>
            <a:r>
              <a:rPr lang="en-GB" dirty="0"/>
              <a:t> </a:t>
            </a:r>
            <a:r>
              <a:rPr lang="en-GB" b="1" dirty="0"/>
              <a:t>documentation</a:t>
            </a:r>
            <a:r>
              <a:rPr lang="en-GB" dirty="0"/>
              <a:t> you use </a:t>
            </a:r>
          </a:p>
          <a:p>
            <a:pPr lvl="1"/>
            <a:r>
              <a:rPr lang="en-GB" dirty="0"/>
              <a:t>check lists, </a:t>
            </a:r>
          </a:p>
          <a:p>
            <a:pPr lvl="1"/>
            <a:r>
              <a:rPr lang="en-GB" dirty="0"/>
              <a:t>process, </a:t>
            </a:r>
          </a:p>
          <a:p>
            <a:pPr lvl="1"/>
            <a:r>
              <a:rPr lang="en-GB" dirty="0"/>
              <a:t>procedures, </a:t>
            </a:r>
          </a:p>
          <a:p>
            <a:pPr lvl="1"/>
            <a:r>
              <a:rPr lang="en-GB" dirty="0"/>
              <a:t>…)</a:t>
            </a:r>
          </a:p>
          <a:p>
            <a:r>
              <a:rPr lang="en-GB" dirty="0"/>
              <a:t>Other important documents to show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26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tasks &amp; project you work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activities your worked on</a:t>
            </a:r>
          </a:p>
          <a:p>
            <a:pPr lvl="1"/>
            <a:r>
              <a:rPr lang="en-GB" dirty="0"/>
              <a:t>Last year</a:t>
            </a:r>
          </a:p>
          <a:p>
            <a:pPr lvl="1"/>
            <a:r>
              <a:rPr lang="en-GB" dirty="0"/>
              <a:t>Coming year, near future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24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Recent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change your encountered recently</a:t>
            </a:r>
          </a:p>
          <a:p>
            <a:pPr lvl="1"/>
            <a:r>
              <a:rPr lang="en-GB" dirty="0"/>
              <a:t>Recent people onboarding</a:t>
            </a:r>
          </a:p>
          <a:p>
            <a:pPr lvl="1"/>
            <a:r>
              <a:rPr lang="en-GB" dirty="0"/>
              <a:t>Recent people offboarding</a:t>
            </a:r>
          </a:p>
          <a:p>
            <a:pPr lvl="1"/>
            <a:r>
              <a:rPr lang="en-GB" dirty="0"/>
              <a:t>New projects/tasks</a:t>
            </a:r>
          </a:p>
          <a:p>
            <a:pPr lvl="1"/>
            <a:r>
              <a:rPr lang="en-GB" dirty="0"/>
              <a:t>Closing projects/tasks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How do you manage changes </a:t>
            </a:r>
          </a:p>
          <a:p>
            <a:pPr lvl="1"/>
            <a:r>
              <a:rPr lang="en-GB" dirty="0"/>
              <a:t>On management level (ref. Clause 6.3)</a:t>
            </a:r>
          </a:p>
          <a:p>
            <a:pPr lvl="1"/>
            <a:r>
              <a:rPr lang="en-GB" dirty="0"/>
              <a:t>On operational level (ref. Clause 6.3 and A.8.32)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228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success stories to mention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successes you achieved recently?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95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0C83-806B-0BD5-6424-04ABF433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A095009-DAAD-955B-7044-5C3C55B3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KPIs (key performance indicators)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9854-F89A-6205-F75B-AB791E3B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are your most important metrics and performance indicators you follow</a:t>
            </a:r>
          </a:p>
          <a:p>
            <a:pPr lvl="1"/>
            <a:r>
              <a:rPr lang="en-GB" dirty="0"/>
              <a:t>Metrics</a:t>
            </a:r>
          </a:p>
          <a:p>
            <a:pPr lvl="1"/>
            <a:r>
              <a:rPr lang="en-GB" dirty="0"/>
              <a:t>KPI</a:t>
            </a:r>
          </a:p>
          <a:p>
            <a:pPr lvl="1"/>
            <a:r>
              <a:rPr lang="en-GB" dirty="0"/>
              <a:t>Reporting in </a:t>
            </a:r>
          </a:p>
          <a:p>
            <a:pPr lvl="2"/>
            <a:r>
              <a:rPr lang="en-GB" dirty="0"/>
              <a:t>Strategic dashboards? </a:t>
            </a:r>
          </a:p>
          <a:p>
            <a:pPr lvl="2"/>
            <a:r>
              <a:rPr lang="en-GB" dirty="0"/>
              <a:t>Tactical (departmental) dashboard</a:t>
            </a:r>
          </a:p>
          <a:p>
            <a:pPr lvl="2"/>
            <a:r>
              <a:rPr lang="en-GB" dirty="0"/>
              <a:t>Operational (technical) dashboards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C2C568-71C1-3207-1407-DA5DDCCF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DD84D-F29C-14FF-294C-0E57ADB5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7C3220-04F3-CF0B-0BFF-9F1F25E7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941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0C83-806B-0BD5-6424-04ABF433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A095009-DAAD-955B-7044-5C3C55B3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Threat intelligence for your team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9854-F89A-6205-F75B-AB791E3B5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 are your </a:t>
            </a:r>
            <a:r>
              <a:rPr lang="en-GB" b="1" dirty="0"/>
              <a:t>most important threats </a:t>
            </a:r>
            <a:r>
              <a:rPr lang="en-GB" dirty="0"/>
              <a:t>for your team and your responsibility? </a:t>
            </a:r>
          </a:p>
          <a:p>
            <a:r>
              <a:rPr lang="en-GB" dirty="0"/>
              <a:t>What can go wrong, you think? </a:t>
            </a:r>
          </a:p>
          <a:p>
            <a:r>
              <a:rPr lang="en-GB" dirty="0"/>
              <a:t>For example</a:t>
            </a:r>
          </a:p>
          <a:p>
            <a:pPr lvl="1"/>
            <a:r>
              <a:rPr lang="en-GB" dirty="0"/>
              <a:t>Competition</a:t>
            </a:r>
          </a:p>
          <a:p>
            <a:pPr lvl="1"/>
            <a:r>
              <a:rPr lang="en-GB" dirty="0"/>
              <a:t>Change of business, evolution of business</a:t>
            </a:r>
          </a:p>
          <a:p>
            <a:pPr lvl="1"/>
            <a:r>
              <a:rPr lang="en-GB" dirty="0"/>
              <a:t>Technology updates</a:t>
            </a:r>
          </a:p>
          <a:p>
            <a:pPr lvl="1"/>
            <a:r>
              <a:rPr lang="en-GB" dirty="0"/>
              <a:t>Suppliers, </a:t>
            </a:r>
          </a:p>
          <a:p>
            <a:pPr lvl="1"/>
            <a:r>
              <a:rPr lang="en-GB" dirty="0"/>
              <a:t>Cyberattacks, </a:t>
            </a:r>
          </a:p>
          <a:p>
            <a:pPr lvl="1"/>
            <a:r>
              <a:rPr lang="en-GB" dirty="0"/>
              <a:t>Pressure on resources, people, budget, tools, …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C2C568-71C1-3207-1407-DA5DDCCF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DDD84D-F29C-14FF-294C-0E57ADB5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7C3220-04F3-CF0B-0BFF-9F1F25E7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125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E6BC-3D5F-CF3E-17C5-B9A10C5B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3174BAA-3AB9-9DE1-53C3-7F1E866F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5A147-A50D-9FCF-B26B-EBA2D4F9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do you manage risks in your team? </a:t>
            </a:r>
          </a:p>
          <a:p>
            <a:pPr lvl="1"/>
            <a:r>
              <a:rPr lang="en-GB" dirty="0"/>
              <a:t>Potential issues</a:t>
            </a:r>
          </a:p>
          <a:p>
            <a:pPr lvl="1"/>
            <a:r>
              <a:rPr lang="en-GB" dirty="0"/>
              <a:t>Risk register?</a:t>
            </a:r>
          </a:p>
          <a:p>
            <a:pPr lvl="1"/>
            <a:r>
              <a:rPr lang="en-GB" dirty="0"/>
              <a:t>Risk evaluations</a:t>
            </a:r>
          </a:p>
          <a:p>
            <a:pPr lvl="1"/>
            <a:r>
              <a:rPr lang="en-GB" dirty="0"/>
              <a:t>Risk treatment</a:t>
            </a:r>
          </a:p>
          <a:p>
            <a:pPr lvl="1"/>
            <a:r>
              <a:rPr lang="en-GB" dirty="0"/>
              <a:t>Risk management</a:t>
            </a:r>
          </a:p>
          <a:p>
            <a:pPr lvl="1"/>
            <a:r>
              <a:rPr lang="en-GB" dirty="0"/>
              <a:t>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E8CE52-0C39-1225-D95C-DEFCF0A8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8E0E0B-5428-AF21-883A-D09273E3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30CABF-BB2A-5AC8-7096-984C1356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235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Operational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Show some sample cases and work items of</a:t>
            </a:r>
          </a:p>
          <a:p>
            <a:pPr lvl="1"/>
            <a:r>
              <a:rPr lang="en-GB" dirty="0"/>
              <a:t>Dashboards</a:t>
            </a:r>
          </a:p>
          <a:p>
            <a:pPr lvl="1"/>
            <a:r>
              <a:rPr lang="en-GB" dirty="0"/>
              <a:t>Tickets</a:t>
            </a:r>
          </a:p>
          <a:p>
            <a:pPr lvl="1"/>
            <a:r>
              <a:rPr lang="en-GB" dirty="0"/>
              <a:t>Recent changes</a:t>
            </a:r>
          </a:p>
          <a:p>
            <a:pPr lvl="1"/>
            <a:r>
              <a:rPr lang="en-GB" dirty="0"/>
              <a:t>Recent projects &amp; tasks executed</a:t>
            </a:r>
          </a:p>
          <a:p>
            <a:pPr lvl="1"/>
            <a:r>
              <a:rPr lang="en-GB" dirty="0"/>
              <a:t>Documentation </a:t>
            </a:r>
          </a:p>
          <a:p>
            <a:pPr lvl="1"/>
            <a:r>
              <a:rPr lang="en-GB" dirty="0"/>
              <a:t>Incidents</a:t>
            </a:r>
          </a:p>
          <a:p>
            <a:pPr lvl="1"/>
            <a:r>
              <a:rPr lang="en-GB" dirty="0"/>
              <a:t>Ongoing projects</a:t>
            </a:r>
          </a:p>
          <a:p>
            <a:pPr lvl="1"/>
            <a:r>
              <a:rPr lang="en-GB" dirty="0"/>
              <a:t>Main activities &amp; daily operations</a:t>
            </a:r>
          </a:p>
          <a:p>
            <a:pPr lvl="1"/>
            <a:r>
              <a:rPr lang="en-GB" dirty="0"/>
              <a:t>Education, training &amp; awareness sessions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164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Incidents &amp; </a:t>
            </a:r>
            <a:r>
              <a:rPr lang="en-GB"/>
              <a:t>issue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Action plans on incidents</a:t>
            </a:r>
          </a:p>
          <a:p>
            <a:r>
              <a:rPr lang="en-GB" dirty="0"/>
              <a:t>List recent (last year) important incidents or issues you recently encountered and </a:t>
            </a:r>
          </a:p>
          <a:p>
            <a:r>
              <a:rPr lang="en-GB" b="1" u="sng" dirty="0"/>
              <a:t>most importantly: explain how you solve them</a:t>
            </a:r>
            <a:endParaRPr lang="en-GB" dirty="0"/>
          </a:p>
          <a:p>
            <a:r>
              <a:rPr lang="en-GB" dirty="0"/>
              <a:t>Examples</a:t>
            </a:r>
          </a:p>
          <a:p>
            <a:pPr lvl="1"/>
            <a:r>
              <a:rPr lang="en-GB" dirty="0"/>
              <a:t>(1) 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635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959D-F243-BC80-8814-BA3DD0576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881FC9A-B041-3BDC-297C-0CC8D4D0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Continual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32BAC-7A45-B54C-7AC6-5B704FE81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did you implement continual improvement? </a:t>
            </a:r>
          </a:p>
          <a:p>
            <a:r>
              <a:rPr lang="en-GB" dirty="0"/>
              <a:t>Show Action plans on</a:t>
            </a:r>
          </a:p>
          <a:p>
            <a:pPr lvl="1"/>
            <a:r>
              <a:rPr lang="en-GB" dirty="0"/>
              <a:t>Improvement actions</a:t>
            </a:r>
          </a:p>
          <a:p>
            <a:pPr lvl="1"/>
            <a:r>
              <a:rPr lang="en-GB" dirty="0"/>
              <a:t>Fixes of OFIs? (opportunity for improvements)</a:t>
            </a:r>
          </a:p>
          <a:p>
            <a:pPr lvl="1"/>
            <a:r>
              <a:rPr lang="en-GB" dirty="0"/>
              <a:t>Minor non-conformities?</a:t>
            </a:r>
          </a:p>
          <a:p>
            <a:pPr lvl="1"/>
            <a:r>
              <a:rPr lang="en-GB" dirty="0"/>
              <a:t>Major non-conformities?</a:t>
            </a:r>
          </a:p>
          <a:p>
            <a:pPr lvl="1"/>
            <a:r>
              <a:rPr lang="en-GB" dirty="0"/>
              <a:t> …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C4D820-4340-017B-9BC6-58CB739BE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/>
              <a:t>04/09/2026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494628-D281-7498-A559-E96E12BA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CONFIDENTIAL - INTERNAL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2D0FA3-EA4D-A5D7-B5C0-9E0B8476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848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Some hints &amp;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Prepare &amp; check upfront. </a:t>
            </a:r>
          </a:p>
          <a:p>
            <a:r>
              <a:rPr lang="en-GB" dirty="0">
                <a:solidFill>
                  <a:schemeClr val="bg1"/>
                </a:solidFill>
              </a:rPr>
              <a:t>No stress. Keep breathing.</a:t>
            </a:r>
          </a:p>
          <a:p>
            <a:r>
              <a:rPr lang="en-GB" dirty="0">
                <a:solidFill>
                  <a:schemeClr val="bg1"/>
                </a:solidFill>
              </a:rPr>
              <a:t>Be transparent.</a:t>
            </a:r>
          </a:p>
          <a:p>
            <a:r>
              <a:rPr lang="en-GB" dirty="0">
                <a:solidFill>
                  <a:schemeClr val="bg1"/>
                </a:solidFill>
              </a:rPr>
              <a:t>If needed, ask guidance by project team.</a:t>
            </a:r>
          </a:p>
          <a:p>
            <a:r>
              <a:rPr lang="en-GB" dirty="0">
                <a:solidFill>
                  <a:schemeClr val="bg1"/>
                </a:solidFill>
              </a:rPr>
              <a:t>If you don't know the answer to questions, just say so. Don't worry.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Don’t lie, the auditor will check other evidence and correlate/corroborate.</a:t>
            </a:r>
          </a:p>
          <a:p>
            <a:r>
              <a:rPr lang="en-GB" dirty="0">
                <a:solidFill>
                  <a:schemeClr val="bg1"/>
                </a:solidFill>
              </a:rPr>
              <a:t>If audit questions are not clear, ask clarification to auditor…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>
                <a:solidFill>
                  <a:schemeClr val="bg1"/>
                </a:solidFill>
              </a:rPr>
              <a:t>04/09/2026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CONFIDENTIAL - INTERNAL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>
                <a:solidFill>
                  <a:schemeClr val="bg1"/>
                </a:solidFill>
              </a:rPr>
              <a:t>21</a:t>
            </a:fld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57351E-543B-D69B-C35A-3523F0B3BD62}"/>
              </a:ext>
            </a:extLst>
          </p:cNvPr>
          <p:cNvGrpSpPr/>
          <p:nvPr/>
        </p:nvGrpSpPr>
        <p:grpSpPr>
          <a:xfrm>
            <a:off x="11031643" y="326619"/>
            <a:ext cx="914400" cy="914400"/>
            <a:chOff x="10879243" y="174219"/>
            <a:chExt cx="914400" cy="914400"/>
          </a:xfrm>
        </p:grpSpPr>
        <p:pic>
          <p:nvPicPr>
            <p:cNvPr id="5" name="Graphic 4" descr="Hidden slide, not shown during presentation">
              <a:extLst>
                <a:ext uri="{FF2B5EF4-FFF2-40B4-BE49-F238E27FC236}">
                  <a16:creationId xmlns:a16="http://schemas.microsoft.com/office/drawing/2014/main" id="{4599494B-A272-0B74-1ADA-34B1124DAF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79243" y="174219"/>
              <a:ext cx="914400" cy="914400"/>
            </a:xfrm>
            <a:prstGeom prst="rect">
              <a:avLst/>
            </a:prstGeom>
          </p:spPr>
        </p:pic>
        <p:sp>
          <p:nvSpPr>
            <p:cNvPr id="11" name="Graphic 3" descr="No sign with solid fill">
              <a:extLst>
                <a:ext uri="{FF2B5EF4-FFF2-40B4-BE49-F238E27FC236}">
                  <a16:creationId xmlns:a16="http://schemas.microsoft.com/office/drawing/2014/main" id="{E1D580FB-9F84-A4BD-AB16-BB8B2E0FC492}"/>
                </a:ext>
              </a:extLst>
            </p:cNvPr>
            <p:cNvSpPr/>
            <p:nvPr/>
          </p:nvSpPr>
          <p:spPr>
            <a:xfrm>
              <a:off x="10974493" y="269469"/>
              <a:ext cx="723900" cy="723900"/>
            </a:xfrm>
            <a:custGeom>
              <a:avLst/>
              <a:gdLst>
                <a:gd name="csX0" fmla="*/ 361950 w 723900"/>
                <a:gd name="csY0" fmla="*/ 0 h 723900"/>
                <a:gd name="csX1" fmla="*/ 0 w 723900"/>
                <a:gd name="csY1" fmla="*/ 361950 h 723900"/>
                <a:gd name="csX2" fmla="*/ 361950 w 723900"/>
                <a:gd name="csY2" fmla="*/ 723900 h 723900"/>
                <a:gd name="csX3" fmla="*/ 723900 w 723900"/>
                <a:gd name="csY3" fmla="*/ 361950 h 723900"/>
                <a:gd name="csX4" fmla="*/ 361950 w 723900"/>
                <a:gd name="csY4" fmla="*/ 0 h 723900"/>
                <a:gd name="csX5" fmla="*/ 114300 w 723900"/>
                <a:gd name="csY5" fmla="*/ 361950 h 723900"/>
                <a:gd name="csX6" fmla="*/ 151448 w 723900"/>
                <a:gd name="csY6" fmla="*/ 232410 h 723900"/>
                <a:gd name="csX7" fmla="*/ 492443 w 723900"/>
                <a:gd name="csY7" fmla="*/ 573405 h 723900"/>
                <a:gd name="csX8" fmla="*/ 361950 w 723900"/>
                <a:gd name="csY8" fmla="*/ 609600 h 723900"/>
                <a:gd name="csX9" fmla="*/ 114300 w 723900"/>
                <a:gd name="csY9" fmla="*/ 361950 h 723900"/>
                <a:gd name="csX10" fmla="*/ 572453 w 723900"/>
                <a:gd name="csY10" fmla="*/ 491490 h 723900"/>
                <a:gd name="csX11" fmla="*/ 232410 w 723900"/>
                <a:gd name="csY11" fmla="*/ 151448 h 723900"/>
                <a:gd name="csX12" fmla="*/ 361950 w 723900"/>
                <a:gd name="csY12" fmla="*/ 114300 h 723900"/>
                <a:gd name="csX13" fmla="*/ 609600 w 723900"/>
                <a:gd name="csY13" fmla="*/ 361950 h 723900"/>
                <a:gd name="csX14" fmla="*/ 572453 w 723900"/>
                <a:gd name="csY14" fmla="*/ 49149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114300" y="361950"/>
                  </a:moveTo>
                  <a:cubicBezTo>
                    <a:pt x="114300" y="314325"/>
                    <a:pt x="127635" y="269558"/>
                    <a:pt x="151448" y="232410"/>
                  </a:cubicBezTo>
                  <a:lnTo>
                    <a:pt x="492443" y="573405"/>
                  </a:lnTo>
                  <a:cubicBezTo>
                    <a:pt x="454343" y="596265"/>
                    <a:pt x="409575" y="609600"/>
                    <a:pt x="361950" y="609600"/>
                  </a:cubicBezTo>
                  <a:cubicBezTo>
                    <a:pt x="225743" y="609600"/>
                    <a:pt x="114300" y="498158"/>
                    <a:pt x="114300" y="361950"/>
                  </a:cubicBezTo>
                  <a:close/>
                  <a:moveTo>
                    <a:pt x="572453" y="491490"/>
                  </a:moveTo>
                  <a:lnTo>
                    <a:pt x="232410" y="151448"/>
                  </a:lnTo>
                  <a:cubicBezTo>
                    <a:pt x="269558" y="127635"/>
                    <a:pt x="314325" y="114300"/>
                    <a:pt x="361950" y="114300"/>
                  </a:cubicBezTo>
                  <a:cubicBezTo>
                    <a:pt x="498158" y="114300"/>
                    <a:pt x="609600" y="225743"/>
                    <a:pt x="609600" y="361950"/>
                  </a:cubicBezTo>
                  <a:cubicBezTo>
                    <a:pt x="609600" y="409575"/>
                    <a:pt x="596265" y="454343"/>
                    <a:pt x="572453" y="49149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BE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93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Some hints &amp; tips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Before external audit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Exercise, do a dry-run to present your audit slot</a:t>
            </a:r>
          </a:p>
          <a:p>
            <a:r>
              <a:rPr lang="en-GB" dirty="0">
                <a:solidFill>
                  <a:schemeClr val="bg1"/>
                </a:solidFill>
              </a:rPr>
              <a:t>Prepare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Collect some recent use cases, for example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Recent onboarding, change, off-boarding 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Recent incidents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Recent successes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Recent, current, or future projects</a:t>
            </a:r>
          </a:p>
          <a:p>
            <a:pPr lvl="2"/>
            <a:r>
              <a:rPr lang="en-GB" dirty="0">
                <a:solidFill>
                  <a:schemeClr val="bg1"/>
                </a:solidFill>
              </a:rPr>
              <a:t>…</a:t>
            </a:r>
          </a:p>
          <a:p>
            <a:pPr lvl="1"/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>
                <a:solidFill>
                  <a:schemeClr val="bg1"/>
                </a:solidFill>
              </a:rPr>
              <a:t>04/09/2026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CONFIDENTIAL - INTERNAL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>
                <a:solidFill>
                  <a:schemeClr val="bg1"/>
                </a:solidFill>
              </a:rPr>
              <a:t>22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" name="Graphic 1" descr="Hidden slide, not shown during presentation">
            <a:extLst>
              <a:ext uri="{FF2B5EF4-FFF2-40B4-BE49-F238E27FC236}">
                <a16:creationId xmlns:a16="http://schemas.microsoft.com/office/drawing/2014/main" id="{D248F920-7BFC-16C0-2788-3C99D22F5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EBD0DF1-5D6A-390D-826E-D634D87AE8A4}"/>
              </a:ext>
            </a:extLst>
          </p:cNvPr>
          <p:cNvGrpSpPr/>
          <p:nvPr/>
        </p:nvGrpSpPr>
        <p:grpSpPr>
          <a:xfrm>
            <a:off x="11031643" y="326619"/>
            <a:ext cx="914400" cy="914400"/>
            <a:chOff x="10879243" y="174219"/>
            <a:chExt cx="914400" cy="914400"/>
          </a:xfrm>
        </p:grpSpPr>
        <p:pic>
          <p:nvPicPr>
            <p:cNvPr id="10" name="Graphic 9" descr="Hidden slide, not shown during presentation">
              <a:extLst>
                <a:ext uri="{FF2B5EF4-FFF2-40B4-BE49-F238E27FC236}">
                  <a16:creationId xmlns:a16="http://schemas.microsoft.com/office/drawing/2014/main" id="{798A7640-B2C3-12C7-C909-67FF477ED0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79243" y="174219"/>
              <a:ext cx="914400" cy="914400"/>
            </a:xfrm>
            <a:prstGeom prst="rect">
              <a:avLst/>
            </a:prstGeom>
          </p:spPr>
        </p:pic>
        <p:sp>
          <p:nvSpPr>
            <p:cNvPr id="11" name="Graphic 3" descr="No sign with solid fill">
              <a:extLst>
                <a:ext uri="{FF2B5EF4-FFF2-40B4-BE49-F238E27FC236}">
                  <a16:creationId xmlns:a16="http://schemas.microsoft.com/office/drawing/2014/main" id="{C224692A-3644-9E8A-93AD-42815FEE7927}"/>
                </a:ext>
              </a:extLst>
            </p:cNvPr>
            <p:cNvSpPr/>
            <p:nvPr/>
          </p:nvSpPr>
          <p:spPr>
            <a:xfrm>
              <a:off x="10974493" y="269469"/>
              <a:ext cx="723900" cy="723900"/>
            </a:xfrm>
            <a:custGeom>
              <a:avLst/>
              <a:gdLst>
                <a:gd name="csX0" fmla="*/ 361950 w 723900"/>
                <a:gd name="csY0" fmla="*/ 0 h 723900"/>
                <a:gd name="csX1" fmla="*/ 0 w 723900"/>
                <a:gd name="csY1" fmla="*/ 361950 h 723900"/>
                <a:gd name="csX2" fmla="*/ 361950 w 723900"/>
                <a:gd name="csY2" fmla="*/ 723900 h 723900"/>
                <a:gd name="csX3" fmla="*/ 723900 w 723900"/>
                <a:gd name="csY3" fmla="*/ 361950 h 723900"/>
                <a:gd name="csX4" fmla="*/ 361950 w 723900"/>
                <a:gd name="csY4" fmla="*/ 0 h 723900"/>
                <a:gd name="csX5" fmla="*/ 114300 w 723900"/>
                <a:gd name="csY5" fmla="*/ 361950 h 723900"/>
                <a:gd name="csX6" fmla="*/ 151448 w 723900"/>
                <a:gd name="csY6" fmla="*/ 232410 h 723900"/>
                <a:gd name="csX7" fmla="*/ 492443 w 723900"/>
                <a:gd name="csY7" fmla="*/ 573405 h 723900"/>
                <a:gd name="csX8" fmla="*/ 361950 w 723900"/>
                <a:gd name="csY8" fmla="*/ 609600 h 723900"/>
                <a:gd name="csX9" fmla="*/ 114300 w 723900"/>
                <a:gd name="csY9" fmla="*/ 361950 h 723900"/>
                <a:gd name="csX10" fmla="*/ 572453 w 723900"/>
                <a:gd name="csY10" fmla="*/ 491490 h 723900"/>
                <a:gd name="csX11" fmla="*/ 232410 w 723900"/>
                <a:gd name="csY11" fmla="*/ 151448 h 723900"/>
                <a:gd name="csX12" fmla="*/ 361950 w 723900"/>
                <a:gd name="csY12" fmla="*/ 114300 h 723900"/>
                <a:gd name="csX13" fmla="*/ 609600 w 723900"/>
                <a:gd name="csY13" fmla="*/ 361950 h 723900"/>
                <a:gd name="csX14" fmla="*/ 572453 w 723900"/>
                <a:gd name="csY14" fmla="*/ 49149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114300" y="361950"/>
                  </a:moveTo>
                  <a:cubicBezTo>
                    <a:pt x="114300" y="314325"/>
                    <a:pt x="127635" y="269558"/>
                    <a:pt x="151448" y="232410"/>
                  </a:cubicBezTo>
                  <a:lnTo>
                    <a:pt x="492443" y="573405"/>
                  </a:lnTo>
                  <a:cubicBezTo>
                    <a:pt x="454343" y="596265"/>
                    <a:pt x="409575" y="609600"/>
                    <a:pt x="361950" y="609600"/>
                  </a:cubicBezTo>
                  <a:cubicBezTo>
                    <a:pt x="225743" y="609600"/>
                    <a:pt x="114300" y="498158"/>
                    <a:pt x="114300" y="361950"/>
                  </a:cubicBezTo>
                  <a:close/>
                  <a:moveTo>
                    <a:pt x="572453" y="491490"/>
                  </a:moveTo>
                  <a:lnTo>
                    <a:pt x="232410" y="151448"/>
                  </a:lnTo>
                  <a:cubicBezTo>
                    <a:pt x="269558" y="127635"/>
                    <a:pt x="314325" y="114300"/>
                    <a:pt x="361950" y="114300"/>
                  </a:cubicBezTo>
                  <a:cubicBezTo>
                    <a:pt x="498158" y="114300"/>
                    <a:pt x="609600" y="225743"/>
                    <a:pt x="609600" y="361950"/>
                  </a:cubicBezTo>
                  <a:cubicBezTo>
                    <a:pt x="609600" y="409575"/>
                    <a:pt x="596265" y="454343"/>
                    <a:pt x="572453" y="49149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96660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DE2C5EB-5905-F510-40ED-017B3F33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Some hints &amp; tips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During audit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AC7FA-AD17-CE9D-7290-786550FBF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Make sure to have a coach available during all meetings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Usually ISMS project lead, ISMS specialist, CISO, …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BC3CC-8E58-B52D-AEEA-E1B85C3F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7C4E-647C-4B13-8A10-DD416AB9F1A8}" type="datetime1">
              <a:rPr lang="en-GB" smtClean="0">
                <a:solidFill>
                  <a:schemeClr val="bg1"/>
                </a:solidFill>
              </a:rPr>
              <a:t>04/09/2026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BC0423-BB3C-A090-5866-8B9F4FA3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CONFIDENTIAL - INTERNAL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6F6E4D-CA21-54FD-7EEA-56C60CAC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CC827-0890-441F-AF75-6922321CC9F8}" type="slidenum">
              <a:rPr lang="en-GB" smtClean="0">
                <a:solidFill>
                  <a:schemeClr val="bg1"/>
                </a:solidFill>
              </a:rPr>
              <a:t>23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" name="Graphic 1" descr="Hidden slide, not shown during presentation">
            <a:extLst>
              <a:ext uri="{FF2B5EF4-FFF2-40B4-BE49-F238E27FC236}">
                <a16:creationId xmlns:a16="http://schemas.microsoft.com/office/drawing/2014/main" id="{18919E10-6C6E-3656-5BAE-10310E5A2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9243" y="174219"/>
            <a:ext cx="914400" cy="9144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E8F6752-2B2C-12B0-597E-709AEEC6D5B6}"/>
              </a:ext>
            </a:extLst>
          </p:cNvPr>
          <p:cNvGrpSpPr/>
          <p:nvPr/>
        </p:nvGrpSpPr>
        <p:grpSpPr>
          <a:xfrm>
            <a:off x="11031643" y="326619"/>
            <a:ext cx="914400" cy="914400"/>
            <a:chOff x="10879243" y="174219"/>
            <a:chExt cx="914400" cy="914400"/>
          </a:xfrm>
        </p:grpSpPr>
        <p:pic>
          <p:nvPicPr>
            <p:cNvPr id="10" name="Graphic 9" descr="Hidden slide, not shown during presentation">
              <a:extLst>
                <a:ext uri="{FF2B5EF4-FFF2-40B4-BE49-F238E27FC236}">
                  <a16:creationId xmlns:a16="http://schemas.microsoft.com/office/drawing/2014/main" id="{175085B1-8CFA-B7A3-B64D-F83F9398F0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879243" y="174219"/>
              <a:ext cx="914400" cy="914400"/>
            </a:xfrm>
            <a:prstGeom prst="rect">
              <a:avLst/>
            </a:prstGeom>
          </p:spPr>
        </p:pic>
        <p:sp>
          <p:nvSpPr>
            <p:cNvPr id="11" name="Graphic 3" descr="No sign with solid fill">
              <a:extLst>
                <a:ext uri="{FF2B5EF4-FFF2-40B4-BE49-F238E27FC236}">
                  <a16:creationId xmlns:a16="http://schemas.microsoft.com/office/drawing/2014/main" id="{38EAB80F-BE75-06E0-DC88-B519C7F0E515}"/>
                </a:ext>
              </a:extLst>
            </p:cNvPr>
            <p:cNvSpPr/>
            <p:nvPr/>
          </p:nvSpPr>
          <p:spPr>
            <a:xfrm>
              <a:off x="10974493" y="269469"/>
              <a:ext cx="723900" cy="723900"/>
            </a:xfrm>
            <a:custGeom>
              <a:avLst/>
              <a:gdLst>
                <a:gd name="csX0" fmla="*/ 361950 w 723900"/>
                <a:gd name="csY0" fmla="*/ 0 h 723900"/>
                <a:gd name="csX1" fmla="*/ 0 w 723900"/>
                <a:gd name="csY1" fmla="*/ 361950 h 723900"/>
                <a:gd name="csX2" fmla="*/ 361950 w 723900"/>
                <a:gd name="csY2" fmla="*/ 723900 h 723900"/>
                <a:gd name="csX3" fmla="*/ 723900 w 723900"/>
                <a:gd name="csY3" fmla="*/ 361950 h 723900"/>
                <a:gd name="csX4" fmla="*/ 361950 w 723900"/>
                <a:gd name="csY4" fmla="*/ 0 h 723900"/>
                <a:gd name="csX5" fmla="*/ 114300 w 723900"/>
                <a:gd name="csY5" fmla="*/ 361950 h 723900"/>
                <a:gd name="csX6" fmla="*/ 151448 w 723900"/>
                <a:gd name="csY6" fmla="*/ 232410 h 723900"/>
                <a:gd name="csX7" fmla="*/ 492443 w 723900"/>
                <a:gd name="csY7" fmla="*/ 573405 h 723900"/>
                <a:gd name="csX8" fmla="*/ 361950 w 723900"/>
                <a:gd name="csY8" fmla="*/ 609600 h 723900"/>
                <a:gd name="csX9" fmla="*/ 114300 w 723900"/>
                <a:gd name="csY9" fmla="*/ 361950 h 723900"/>
                <a:gd name="csX10" fmla="*/ 572453 w 723900"/>
                <a:gd name="csY10" fmla="*/ 491490 h 723900"/>
                <a:gd name="csX11" fmla="*/ 232410 w 723900"/>
                <a:gd name="csY11" fmla="*/ 151448 h 723900"/>
                <a:gd name="csX12" fmla="*/ 361950 w 723900"/>
                <a:gd name="csY12" fmla="*/ 114300 h 723900"/>
                <a:gd name="csX13" fmla="*/ 609600 w 723900"/>
                <a:gd name="csY13" fmla="*/ 361950 h 723900"/>
                <a:gd name="csX14" fmla="*/ 572453 w 723900"/>
                <a:gd name="csY14" fmla="*/ 491490 h 723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723900" h="723900">
                  <a:moveTo>
                    <a:pt x="361950" y="0"/>
                  </a:move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161925"/>
                    <a:pt x="561975" y="0"/>
                    <a:pt x="361950" y="0"/>
                  </a:cubicBezTo>
                  <a:close/>
                  <a:moveTo>
                    <a:pt x="114300" y="361950"/>
                  </a:moveTo>
                  <a:cubicBezTo>
                    <a:pt x="114300" y="314325"/>
                    <a:pt x="127635" y="269558"/>
                    <a:pt x="151448" y="232410"/>
                  </a:cubicBezTo>
                  <a:lnTo>
                    <a:pt x="492443" y="573405"/>
                  </a:lnTo>
                  <a:cubicBezTo>
                    <a:pt x="454343" y="596265"/>
                    <a:pt x="409575" y="609600"/>
                    <a:pt x="361950" y="609600"/>
                  </a:cubicBezTo>
                  <a:cubicBezTo>
                    <a:pt x="225743" y="609600"/>
                    <a:pt x="114300" y="498158"/>
                    <a:pt x="114300" y="361950"/>
                  </a:cubicBezTo>
                  <a:close/>
                  <a:moveTo>
                    <a:pt x="572453" y="491490"/>
                  </a:moveTo>
                  <a:lnTo>
                    <a:pt x="232410" y="151448"/>
                  </a:lnTo>
                  <a:cubicBezTo>
                    <a:pt x="269558" y="127635"/>
                    <a:pt x="314325" y="114300"/>
                    <a:pt x="361950" y="114300"/>
                  </a:cubicBezTo>
                  <a:cubicBezTo>
                    <a:pt x="498158" y="114300"/>
                    <a:pt x="609600" y="225743"/>
                    <a:pt x="609600" y="361950"/>
                  </a:cubicBezTo>
                  <a:cubicBezTo>
                    <a:pt x="609600" y="409575"/>
                    <a:pt x="596265" y="454343"/>
                    <a:pt x="572453" y="491490"/>
                  </a:cubicBezTo>
                  <a:close/>
                </a:path>
              </a:pathLst>
            </a:custGeom>
            <a:solidFill>
              <a:srgbClr val="FF000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070467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998</Words>
  <Application>Microsoft Office PowerPoint</Application>
  <PresentationFormat>Widescreen</PresentationFormat>
  <Paragraphs>239</Paragraphs>
  <Slides>23</Slides>
  <Notes>1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Kantoorthema</vt:lpstr>
      <vt:lpstr>ISO27001/ISO9001  (and/or other ISO standards)</vt:lpstr>
      <vt:lpstr>(Hidden) User Guide - How to use this deck</vt:lpstr>
      <vt:lpstr>First time – Time needed - +/- 45’-60’</vt:lpstr>
      <vt:lpstr>(Hidden) yearly update - Time needed - +/- 30’</vt:lpstr>
      <vt:lpstr>Data protection / security instruction</vt:lpstr>
      <vt:lpstr>Our team (who are we)</vt:lpstr>
      <vt:lpstr>Our team (position in organigram)</vt:lpstr>
      <vt:lpstr>Team responsibility, main tasks and processes</vt:lpstr>
      <vt:lpstr>Process definition / turtle diagram (1/2)</vt:lpstr>
      <vt:lpstr>(2/2) TURTLE-diagram - General introduction – no colors</vt:lpstr>
      <vt:lpstr>Reference documentation (policies &amp; procedures)</vt:lpstr>
      <vt:lpstr>Current tasks &amp; project you work on</vt:lpstr>
      <vt:lpstr>Recent changes</vt:lpstr>
      <vt:lpstr>Important success stories to mention</vt:lpstr>
      <vt:lpstr>KPIs (key performance indicators)</vt:lpstr>
      <vt:lpstr>Threat intelligence for your team </vt:lpstr>
      <vt:lpstr>Risk Management </vt:lpstr>
      <vt:lpstr>Operational evidence</vt:lpstr>
      <vt:lpstr>Incidents &amp; issue management</vt:lpstr>
      <vt:lpstr>Continual improvement</vt:lpstr>
      <vt:lpstr>Some hints &amp; tips</vt:lpstr>
      <vt:lpstr>Some hints &amp; tips Before external audit </vt:lpstr>
      <vt:lpstr>Some hints &amp; tips During audit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ISO27001</dc:title>
  <dc:creator>Peter Geelen</dc:creator>
  <cp:lastModifiedBy>Peter Geelen (Quest For Security)</cp:lastModifiedBy>
  <cp:revision>12</cp:revision>
  <dcterms:created xsi:type="dcterms:W3CDTF">2023-09-20T08:11:43Z</dcterms:created>
  <dcterms:modified xsi:type="dcterms:W3CDTF">2026-09-04T09:12:25Z</dcterms:modified>
</cp:coreProperties>
</file>