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  <p:sldMasterId id="2147483834" r:id="rId2"/>
  </p:sldMasterIdLst>
  <p:notesMasterIdLst>
    <p:notesMasterId r:id="rId23"/>
  </p:notesMasterIdLst>
  <p:sldIdLst>
    <p:sldId id="256" r:id="rId3"/>
    <p:sldId id="270" r:id="rId4"/>
    <p:sldId id="266" r:id="rId5"/>
    <p:sldId id="257" r:id="rId6"/>
    <p:sldId id="258" r:id="rId7"/>
    <p:sldId id="274" r:id="rId8"/>
    <p:sldId id="271" r:id="rId9"/>
    <p:sldId id="272" r:id="rId10"/>
    <p:sldId id="259" r:id="rId11"/>
    <p:sldId id="260" r:id="rId12"/>
    <p:sldId id="261" r:id="rId13"/>
    <p:sldId id="262" r:id="rId14"/>
    <p:sldId id="269" r:id="rId15"/>
    <p:sldId id="273" r:id="rId16"/>
    <p:sldId id="275" r:id="rId17"/>
    <p:sldId id="264" r:id="rId18"/>
    <p:sldId id="263" r:id="rId19"/>
    <p:sldId id="265" r:id="rId20"/>
    <p:sldId id="268" r:id="rId21"/>
    <p:sldId id="267" r:id="rId2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196" autoAdjust="0"/>
  </p:normalViewPr>
  <p:slideViewPr>
    <p:cSldViewPr snapToGrid="0">
      <p:cViewPr varScale="1">
        <p:scale>
          <a:sx n="63" d="100"/>
          <a:sy n="63" d="100"/>
        </p:scale>
        <p:origin x="138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F6626-A253-493C-BF26-BE6CBDCC047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42BBD-261E-452F-BD1A-2A16B220CF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0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EDE1-F5CB-B025-D603-3B4B9EB6C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0462E-9504-DA2F-C9C6-A5FC2A219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33FA-D807-E040-D0B5-E3A4FC18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C779-59B7-45A6-9F5C-A8F0B19D7279}" type="datetime1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15BA6-25A3-2130-D387-D08C8AE2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FCA15-3BDD-DD8F-C1ED-611B609A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64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10DC-3BF1-290C-5F81-435D9DFB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8810-5657-4065-1DA1-A54B94A0E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58887-FA2F-5D56-6D9A-A9C982D0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78FD-7291-4F40-A32E-78941DA31494}" type="datetime1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23C31-E39C-FBA9-C1DE-C3E69E08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4BD39-3011-CAD8-8E49-E58536E6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09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9054-E21A-06AB-3ADA-A88769A2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15AB-2512-80ED-424A-65301108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A63EC-7073-4B71-9EB0-0E0B499D9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18877-AD05-4CC9-AFF7-7DE28EBDCE1B}" type="datetime1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6B4D-429A-070C-36E5-4B4F1453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F023B-0577-09AC-C06F-70C16278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91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015B-C7CD-6E1F-3B0A-EA31464DD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3FFA2-B007-4E8F-9549-1E5CF0FFF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129B2-071C-5CCB-1721-F7893101D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7344B-0781-E1C6-EC8A-3743C361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286-FB87-4808-978D-60219471942C}" type="datetime1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3774F-B994-BF73-3E7A-77B93D05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24CE5-A4F5-3456-CED0-3FBE09EE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65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46F23-E164-ACBC-5722-DD72EA4A4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63687-0340-F032-EFE7-0758212D4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8AD10-1A49-41F2-9E92-9E1505F96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EE001-334F-B2EE-806D-DEB286C76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8F0A-8C98-7BA2-CFCD-5BE9F38FE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B43407-A2B0-B34F-774D-923FFC4E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E6EDC-1ED8-412C-87C6-92E6C3F422FE}" type="datetime1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E88BD-0769-A91C-5E28-73818C21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C512E-E8D1-0C6A-9BA8-9802E4C3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41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33E3-5615-4D44-FECB-C3DBD0F3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D8BDBA-B9B9-2C91-5C33-1B89EB61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CBA4-6C7E-4EA5-9454-78109E2ED00A}" type="datetime1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A2D26-0D0F-FB31-881D-6A57936D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2C9A0-0056-7259-6709-3DC68A72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36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0F8B3-8C99-A7CF-033E-1C8EDF15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5BE8F-7CFA-453B-AD01-98E46CFC97C9}" type="datetime1">
              <a:rPr lang="en-GB" smtClean="0"/>
              <a:t>05/03/2026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2DB72-0EA9-E531-0608-9BD04230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E4802-31C6-732C-265B-4B483951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18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8CBB-4654-E464-91EB-B5B367F09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DC058-C402-973B-F795-AA5B017B1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EEE35-0523-57AD-3A72-53FB2A152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10F1A-D63F-5FAB-82A0-A4B77F03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5495-41A8-4AAC-8D89-ADBBF3C73945}" type="datetime1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8D81E-886D-2EE5-A9CB-A598BBCC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F6F24-5851-1657-C21E-178EE27C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268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D8EE-656A-AFB6-8A5D-7192691A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07318-A2F2-ED0F-3D6C-F01AD5C3A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5EE39-1D31-63DF-58E5-99955A077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EDC0D-0869-E8B5-5FDC-013CD197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32F62-5451-45E8-9EC1-35CD853326A3}" type="datetime1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C8988-F189-9909-FF27-4A9FDC51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686FE-F706-B688-B4DA-5177FF1E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20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4D20-C829-7210-0A92-A49C017A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79B9D-D457-4E43-72B6-F143F1337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F9878-3405-D898-5EA1-AFD2428D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F5F8-1EAD-4698-AEAE-5321FCA28282}" type="datetime1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32DB0-C0F3-4F63-F4CC-B243F8C0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30313-42FA-6967-0707-A6AC9FAB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74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1E028-4F34-8CA9-1629-52684DB25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7E7CB-9341-6DC6-C47B-7B11894D8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328B-FB18-E3F6-D34F-F89CFA6A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77B8E-3981-41FB-B5AE-341E8ABE8278}" type="datetime1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72C3F-8688-22E9-3F85-117B6CC0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38F6D-3217-1CDD-4D09-D12D7212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28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 err="1"/>
              <a:t>Printed</a:t>
            </a:r>
            <a:r>
              <a:rPr lang="nl-BE" dirty="0"/>
              <a:t> - </a:t>
            </a:r>
            <a:fld id="{DEE1F808-0A66-4C85-9BFF-6DCAA00D77A3}" type="datetime1">
              <a:rPr lang="nl-BE" smtClean="0"/>
              <a:pPr/>
              <a:t>5/03/2026</a:t>
            </a:fld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  <p:sp>
        <p:nvSpPr>
          <p:cNvPr id="7" name="Tijdelijke aanduiding voor voettekst 2">
            <a:extLst>
              <a:ext uri="{FF2B5EF4-FFF2-40B4-BE49-F238E27FC236}">
                <a16:creationId xmlns:a16="http://schemas.microsoft.com/office/drawing/2014/main" id="{CB1CE4F4-62F1-4039-A892-31562474236F}"/>
              </a:ext>
            </a:extLst>
          </p:cNvPr>
          <p:cNvSpPr txBox="1">
            <a:spLocks/>
          </p:cNvSpPr>
          <p:nvPr userDrawn="1"/>
        </p:nvSpPr>
        <p:spPr>
          <a:xfrm>
            <a:off x="3688466" y="6356351"/>
            <a:ext cx="48150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dirty="0"/>
              <a:t>&lt;</a:t>
            </a:r>
            <a:r>
              <a:rPr lang="nl-BE" sz="1200" dirty="0" err="1"/>
              <a:t>Published</a:t>
            </a:r>
            <a:r>
              <a:rPr lang="nl-BE" sz="1200" dirty="0"/>
              <a:t> 2023-03-01 - v1.0 -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3819896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61A83-6CFC-442A-9DDA-2F79671A039E}" type="datetime1">
              <a:rPr lang="nl-BE" smtClean="0"/>
              <a:t>5/03/2026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19/01/2016 v1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1539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EA86-BAC4-47C5-A96C-CDCA869BCFD5}" type="datetime1">
              <a:rPr lang="nl-BE" smtClean="0"/>
              <a:t>5/03/2026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12173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DF0C-A021-4BBD-89A2-408AE3A2F967}" type="datetime1">
              <a:rPr lang="nl-BE" smtClean="0"/>
              <a:t>5/03/2026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82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EA2E-7CF2-4075-9373-732ED6A8FCD3}" type="datetime1">
              <a:rPr lang="nl-BE" smtClean="0"/>
              <a:t>5/03/2026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19/01/2016 v1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54318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15CB-BCDC-4B76-8F13-C172670ED1E3}" type="datetime1">
              <a:rPr lang="nl-BE" smtClean="0"/>
              <a:t>5/03/2026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5589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B512-CD74-4E9C-AD91-F05E3805EAD2}" type="datetime1">
              <a:rPr lang="nl-BE" smtClean="0"/>
              <a:t>5/03/2026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46026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3373-5D0E-45E2-959C-B07637A6AC9E}" type="datetime1">
              <a:rPr lang="nl-BE" smtClean="0"/>
              <a:t>5/03/2026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31444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6364-8B1D-4CCB-8CBE-1612806AC3A7}" type="datetime1">
              <a:rPr lang="nl-BE" smtClean="0"/>
              <a:t>5/03/2026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8751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8799C-A2F5-44F4-85ED-4AEC24671F4A}" type="datetime1">
              <a:rPr lang="nl-BE" smtClean="0"/>
              <a:t>5/03/2026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2021-03-16 v1 - CONFIDENTIAL</a:t>
            </a:r>
          </a:p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7242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A52-C994-4C05-97B7-01E47515BDD1}" type="datetime1">
              <a:rPr lang="nl-BE" smtClean="0"/>
              <a:t>5/03/2026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090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C4B41-A42F-041E-4A0B-7AB039F4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A6CAB-DF4D-FF68-E52F-6CA3BE2A1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67BB-2B43-8213-E7A7-0BF7656D3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86237-2654-4025-B12E-485E5DFB83A8}" type="datetime1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2D95-5DC7-F53F-2547-208F4FF71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0CD3A-527D-E9C8-D55B-8735AF8F9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88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B83D3-BD9A-459F-B101-3D51183EAF79}" type="datetime1">
              <a:rPr lang="nl-BE" smtClean="0"/>
              <a:t>5/03/2026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BE" dirty="0"/>
              <a:t>&lt;</a:t>
            </a:r>
            <a:r>
              <a:rPr lang="nl-BE" dirty="0" err="1"/>
              <a:t>Published</a:t>
            </a:r>
            <a:r>
              <a:rPr lang="nl-BE" dirty="0"/>
              <a:t> 2023-03-01 - v1.0 - CONFIDENTIAL&gt;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777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D7E0-E51F-BEBC-7363-92F3942BC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ISO27001 </a:t>
            </a:r>
            <a:br>
              <a:rPr lang="en-GB" dirty="0"/>
            </a:br>
            <a:r>
              <a:rPr lang="en-GB" dirty="0"/>
              <a:t>(and/or other ISO standards)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799BB-30DB-AEF0-9DCB-2802067365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Auditee guidance &amp; preparation </a:t>
            </a:r>
          </a:p>
          <a:p>
            <a:r>
              <a:rPr lang="en-GB"/>
              <a:t>for internal and external audit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94236-138F-5833-E25B-7D8166C7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836F-79EF-47C3-B4B2-64A25986280D}" type="datetime1">
              <a:rPr lang="en-GB" smtClean="0"/>
              <a:t>05/03/2026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7884-8F8D-2081-B80E-D7CE2E25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4EDAD-86A0-A272-D51A-9FF598C3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34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64876-7F76-E94A-833C-65FB9314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Hidden slide, not shown during presentation">
            <a:extLst>
              <a:ext uri="{FF2B5EF4-FFF2-40B4-BE49-F238E27FC236}">
                <a16:creationId xmlns:a16="http://schemas.microsoft.com/office/drawing/2014/main" id="{D84AB889-B70E-3EEC-3299-13D5D5AD7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A48DC11-DA23-5174-8BFE-680BA150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Manual (Hidden) –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4F010-D8D7-E8B7-D71F-161A250A6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Slides with the “no-presentation” icon in upper right corner are </a:t>
            </a:r>
            <a:r>
              <a:rPr lang="en-GB" b="1" dirty="0"/>
              <a:t>hidden</a:t>
            </a:r>
          </a:p>
          <a:p>
            <a:r>
              <a:rPr lang="en-GB" dirty="0"/>
              <a:t>You’ll find some guidance, hints and tips </a:t>
            </a:r>
            <a:r>
              <a:rPr lang="en-GB" b="1" u="sng" dirty="0"/>
              <a:t>at the end of the presentation</a:t>
            </a:r>
          </a:p>
          <a:p>
            <a:r>
              <a:rPr lang="en-GB" dirty="0"/>
              <a:t>Presentation has no graphical layout, you can add company layout to it, as you wish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89B198-9E44-99D6-C6B6-B3C376A6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918DF9-8AEF-BD58-1AD1-5B729E21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8F7163-C283-CF3D-12CB-4CB50A2D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2</a:t>
            </a:fld>
            <a:endParaRPr lang="en-GB"/>
          </a:p>
        </p:txBody>
      </p:sp>
      <p:pic>
        <p:nvPicPr>
          <p:cNvPr id="4" name="Graphic 3" descr="No sign with solid fill">
            <a:extLst>
              <a:ext uri="{FF2B5EF4-FFF2-40B4-BE49-F238E27FC236}">
                <a16:creationId xmlns:a16="http://schemas.microsoft.com/office/drawing/2014/main" id="{23AFDE5F-7961-0DC1-FB31-428268A2F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6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team (who are we)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A6DED08-6D96-5014-26D0-DFF218E58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Introduce yourself</a:t>
            </a:r>
          </a:p>
          <a:p>
            <a:r>
              <a:rPr lang="en-GB" dirty="0"/>
              <a:t>Introduce team members in meeting</a:t>
            </a:r>
          </a:p>
          <a:p>
            <a:r>
              <a:rPr lang="en-GB" dirty="0"/>
              <a:t>Team composition</a:t>
            </a:r>
          </a:p>
          <a:p>
            <a:pPr lvl="1"/>
            <a:r>
              <a:rPr lang="en-GB" dirty="0"/>
              <a:t>Manager</a:t>
            </a:r>
          </a:p>
          <a:p>
            <a:pPr lvl="1"/>
            <a:r>
              <a:rPr lang="en-GB" dirty="0"/>
              <a:t>Team Lead</a:t>
            </a:r>
          </a:p>
          <a:p>
            <a:pPr lvl="1"/>
            <a:r>
              <a:rPr lang="en-GB" dirty="0"/>
              <a:t>Members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66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team (position in organigram)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A6DED08-6D96-5014-26D0-DFF218E58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organigram</a:t>
            </a:r>
          </a:p>
          <a:p>
            <a:r>
              <a:rPr lang="en-GB" dirty="0"/>
              <a:t>Show position of team in relation to other departments and/or teams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5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responsibility, main tasks and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Roles &amp; Responsibilities</a:t>
            </a:r>
          </a:p>
          <a:p>
            <a:r>
              <a:rPr lang="en-GB" dirty="0"/>
              <a:t>Tasks</a:t>
            </a:r>
          </a:p>
          <a:p>
            <a:r>
              <a:rPr lang="en-GB" dirty="0"/>
              <a:t>Processes in control (ref. process turtle)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CONFIDENTIAL - INTERNAL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31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0786-8A38-BF5D-66AB-5D7DAE95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AEBA1B1-C2E3-76A0-E867-B01650DD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definition / turtle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E980F-F9EB-008C-A88C-22BFF2210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Owner / Responsible for process (RASCI)</a:t>
            </a:r>
          </a:p>
          <a:p>
            <a:r>
              <a:rPr lang="en-GB" dirty="0"/>
              <a:t>Description of activities</a:t>
            </a:r>
          </a:p>
          <a:p>
            <a:r>
              <a:rPr lang="en-GB" dirty="0"/>
              <a:t>Parties involved</a:t>
            </a:r>
          </a:p>
          <a:p>
            <a:pPr lvl="1"/>
            <a:r>
              <a:rPr lang="en-GB" dirty="0"/>
              <a:t>Input from…</a:t>
            </a:r>
          </a:p>
          <a:p>
            <a:pPr lvl="1"/>
            <a:r>
              <a:rPr lang="en-GB" dirty="0"/>
              <a:t>Output to…</a:t>
            </a:r>
          </a:p>
          <a:p>
            <a:r>
              <a:rPr lang="en-GB" dirty="0"/>
              <a:t>Typical input categories, platforms, data &amp; documents</a:t>
            </a:r>
          </a:p>
          <a:p>
            <a:r>
              <a:rPr lang="en-GB" dirty="0"/>
              <a:t>Typical output categories, platforms, data &amp; documents</a:t>
            </a:r>
          </a:p>
          <a:p>
            <a:r>
              <a:rPr lang="en-GB" dirty="0"/>
              <a:t>Tools used</a:t>
            </a:r>
          </a:p>
          <a:p>
            <a:r>
              <a:rPr lang="en-GB" dirty="0"/>
              <a:t>Risks &amp; opportunities</a:t>
            </a:r>
          </a:p>
          <a:p>
            <a:r>
              <a:rPr lang="en-GB" dirty="0"/>
              <a:t>KPIs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2150EB-E9D7-2639-2BD7-58117108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622F111-74B9-1C4D-9022-0B51CD319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CONFIDENTIAL - INTERNAL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94A508-7F74-DF54-4A11-FE543600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89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88642"/>
            <a:ext cx="9144000" cy="432047"/>
          </a:xfrm>
        </p:spPr>
        <p:txBody>
          <a:bodyPr>
            <a:normAutofit/>
          </a:bodyPr>
          <a:lstStyle/>
          <a:p>
            <a:r>
              <a:rPr lang="nl-BE" sz="2000"/>
              <a:t>TURTLE-diagram - General introduction</a:t>
            </a:r>
            <a:endParaRPr lang="nl-BE" sz="2000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3A34E8F-25DF-6B13-D10C-635375134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836F-79EF-47C3-B4B2-64A25986280D}" type="datetime1">
              <a:rPr lang="en-GB" smtClean="0"/>
              <a:t>05/03/2026</a:t>
            </a:fld>
            <a:endParaRPr lang="en-GB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57D2525-6CD8-48E6-7618-CB68DFC3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44F95DE-7800-AA30-9033-C83A834A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7</a:t>
            </a:fld>
            <a:endParaRPr lang="en-GB" dirty="0"/>
          </a:p>
        </p:txBody>
      </p:sp>
      <p:sp>
        <p:nvSpPr>
          <p:cNvPr id="4" name="Ovaal 3"/>
          <p:cNvSpPr/>
          <p:nvPr/>
        </p:nvSpPr>
        <p:spPr>
          <a:xfrm>
            <a:off x="4373384" y="2489971"/>
            <a:ext cx="3384376" cy="187220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prstClr val="white"/>
                </a:solidFill>
                <a:latin typeface="Calibri"/>
              </a:rPr>
              <a:t>PROCES DESCRIPTION</a:t>
            </a:r>
          </a:p>
          <a:p>
            <a:pPr algn="ctr"/>
            <a:r>
              <a:rPr lang="nl-BE" dirty="0">
                <a:solidFill>
                  <a:prstClr val="white"/>
                </a:solidFill>
                <a:latin typeface="Calibri"/>
              </a:rPr>
              <a:t>(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tasks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)</a:t>
            </a:r>
          </a:p>
        </p:txBody>
      </p:sp>
      <p:sp>
        <p:nvSpPr>
          <p:cNvPr id="5" name="Rechthoek 4"/>
          <p:cNvSpPr/>
          <p:nvPr/>
        </p:nvSpPr>
        <p:spPr>
          <a:xfrm>
            <a:off x="1782622" y="1241473"/>
            <a:ext cx="2322385" cy="936104"/>
          </a:xfrm>
          <a:prstGeom prst="rect">
            <a:avLst/>
          </a:prstGeom>
          <a:solidFill>
            <a:srgbClr val="FFFF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schemeClr val="tx1"/>
                </a:solidFill>
                <a:latin typeface="Calibri"/>
              </a:rPr>
              <a:t>Sources</a:t>
            </a:r>
          </a:p>
          <a:p>
            <a:pPr algn="ctr"/>
            <a:r>
              <a:rPr lang="nl-BE" dirty="0">
                <a:solidFill>
                  <a:schemeClr val="tx1"/>
                </a:solidFill>
                <a:latin typeface="Calibri"/>
              </a:rPr>
              <a:t>Input from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whom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6" name="Rechthoek 5"/>
          <p:cNvSpPr/>
          <p:nvPr/>
        </p:nvSpPr>
        <p:spPr>
          <a:xfrm>
            <a:off x="8247780" y="1228539"/>
            <a:ext cx="2145506" cy="936104"/>
          </a:xfrm>
          <a:prstGeom prst="rect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white"/>
                </a:solidFill>
                <a:latin typeface="Calibri"/>
              </a:rPr>
              <a:t>TARGETS</a:t>
            </a:r>
          </a:p>
          <a:p>
            <a:pPr algn="ctr"/>
            <a:r>
              <a:rPr lang="nl-BE" dirty="0">
                <a:solidFill>
                  <a:prstClr val="white"/>
                </a:solidFill>
                <a:latin typeface="Calibri"/>
              </a:rPr>
              <a:t>Output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to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whom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?</a:t>
            </a:r>
          </a:p>
        </p:txBody>
      </p:sp>
      <p:sp>
        <p:nvSpPr>
          <p:cNvPr id="7" name="Rechthoek 6"/>
          <p:cNvSpPr/>
          <p:nvPr/>
        </p:nvSpPr>
        <p:spPr>
          <a:xfrm>
            <a:off x="8246936" y="4738943"/>
            <a:ext cx="2146351" cy="1603697"/>
          </a:xfrm>
          <a:prstGeom prst="rect">
            <a:avLst/>
          </a:prstGeom>
          <a:gradFill>
            <a:gsLst>
              <a:gs pos="0">
                <a:srgbClr val="00B050"/>
              </a:gs>
              <a:gs pos="50000">
                <a:srgbClr val="00B0F0"/>
              </a:gs>
              <a:gs pos="100000">
                <a:srgbClr val="0070C0"/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MEASUREMENTS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results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/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metrix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expected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 algn="ctr"/>
            <a:r>
              <a:rPr lang="nl-BE" dirty="0">
                <a:solidFill>
                  <a:prstClr val="black"/>
                </a:solidFill>
                <a:latin typeface="Calibri"/>
              </a:rPr>
              <a:t>How do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you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measure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your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performance?</a:t>
            </a:r>
          </a:p>
        </p:txBody>
      </p:sp>
      <p:sp>
        <p:nvSpPr>
          <p:cNvPr id="8" name="Rechthoek 7"/>
          <p:cNvSpPr/>
          <p:nvPr/>
        </p:nvSpPr>
        <p:spPr>
          <a:xfrm>
            <a:off x="1798713" y="4668641"/>
            <a:ext cx="2257078" cy="1673998"/>
          </a:xfrm>
          <a:prstGeom prst="rect">
            <a:avLst/>
          </a:prstGeom>
          <a:gradFill>
            <a:gsLst>
              <a:gs pos="0">
                <a:srgbClr val="00B050"/>
              </a:gs>
              <a:gs pos="50000">
                <a:srgbClr val="00B0F0"/>
              </a:gs>
              <a:gs pos="100000">
                <a:srgbClr val="0070C0"/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b="1" u="sng" dirty="0">
                <a:solidFill>
                  <a:schemeClr val="tx1"/>
                </a:solidFill>
                <a:latin typeface="Calibri"/>
              </a:rPr>
              <a:t>METHODS &amp; TOOLS</a:t>
            </a:r>
          </a:p>
          <a:p>
            <a:r>
              <a:rPr lang="nl-BE" dirty="0">
                <a:solidFill>
                  <a:schemeClr val="tx1"/>
                </a:solidFill>
                <a:latin typeface="Calibri"/>
              </a:rPr>
              <a:t>How do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you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 run the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processes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9" name="Rechthoek 8"/>
          <p:cNvSpPr/>
          <p:nvPr/>
        </p:nvSpPr>
        <p:spPr>
          <a:xfrm>
            <a:off x="1798713" y="2489810"/>
            <a:ext cx="1512168" cy="1872208"/>
          </a:xfrm>
          <a:prstGeom prst="rect">
            <a:avLst/>
          </a:prstGeom>
          <a:gradFill>
            <a:gsLst>
              <a:gs pos="0">
                <a:srgbClr val="FFFF00"/>
              </a:gs>
              <a:gs pos="50000">
                <a:srgbClr val="92D050"/>
              </a:gs>
              <a:gs pos="100000">
                <a:srgbClr val="00B050"/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INPUT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is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received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needed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to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start?</a:t>
            </a:r>
          </a:p>
        </p:txBody>
      </p:sp>
      <p:sp>
        <p:nvSpPr>
          <p:cNvPr id="10" name="Rechthoek 9"/>
          <p:cNvSpPr/>
          <p:nvPr/>
        </p:nvSpPr>
        <p:spPr>
          <a:xfrm>
            <a:off x="8718103" y="2489810"/>
            <a:ext cx="1675184" cy="1872208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rgbClr val="00B050"/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>
                <a:solidFill>
                  <a:prstClr val="black"/>
                </a:solidFill>
                <a:latin typeface="Calibri"/>
              </a:rPr>
              <a:t>OUTPUT</a:t>
            </a:r>
          </a:p>
          <a:p>
            <a:pPr algn="ctr"/>
            <a:r>
              <a:rPr lang="nl-BE">
                <a:solidFill>
                  <a:prstClr val="black"/>
                </a:solidFill>
                <a:latin typeface="Calibri"/>
              </a:rPr>
              <a:t>What is delivered?</a:t>
            </a:r>
            <a:endParaRPr lang="nl-BE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Ingekeepte PIJL-RECHTS 13"/>
          <p:cNvSpPr/>
          <p:nvPr/>
        </p:nvSpPr>
        <p:spPr>
          <a:xfrm rot="19010905">
            <a:off x="7494290" y="234734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Ingekeepte PIJL-RECHTS 15"/>
          <p:cNvSpPr/>
          <p:nvPr/>
        </p:nvSpPr>
        <p:spPr>
          <a:xfrm rot="3041088">
            <a:off x="3947973" y="228973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Ingekeepte PIJL-RECHTS 16"/>
          <p:cNvSpPr/>
          <p:nvPr/>
        </p:nvSpPr>
        <p:spPr>
          <a:xfrm rot="19235053">
            <a:off x="3977340" y="4145994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Ingekeepte PIJL-RECHTS 17"/>
          <p:cNvSpPr/>
          <p:nvPr/>
        </p:nvSpPr>
        <p:spPr>
          <a:xfrm rot="3041088">
            <a:off x="7512909" y="4145994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Ingekeepte PIJL-RECHTS 18"/>
          <p:cNvSpPr/>
          <p:nvPr/>
        </p:nvSpPr>
        <p:spPr>
          <a:xfrm>
            <a:off x="3411569" y="3209890"/>
            <a:ext cx="792088" cy="432048"/>
          </a:xfrm>
          <a:prstGeom prst="notch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Ingekeepte PIJL-RECHTS 20"/>
          <p:cNvSpPr/>
          <p:nvPr/>
        </p:nvSpPr>
        <p:spPr>
          <a:xfrm>
            <a:off x="7851737" y="3191734"/>
            <a:ext cx="792088" cy="432048"/>
          </a:xfrm>
          <a:prstGeom prst="notch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hthoek 22"/>
          <p:cNvSpPr/>
          <p:nvPr/>
        </p:nvSpPr>
        <p:spPr>
          <a:xfrm>
            <a:off x="4813460" y="5523918"/>
            <a:ext cx="2565080" cy="792088"/>
          </a:xfrm>
          <a:prstGeom prst="rect">
            <a:avLst/>
          </a:prstGeom>
          <a:gradFill>
            <a:gsLst>
              <a:gs pos="0">
                <a:srgbClr val="FFFF00"/>
              </a:gs>
              <a:gs pos="50000">
                <a:srgbClr val="FFC000"/>
              </a:gs>
              <a:gs pos="100000">
                <a:srgbClr val="FF0000"/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RISK &amp; OPPORTUNITIES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Which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risks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 (-)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Which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opportunities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(+)?</a:t>
            </a:r>
          </a:p>
        </p:txBody>
      </p:sp>
      <p:sp>
        <p:nvSpPr>
          <p:cNvPr id="3" name="Ingekeepte PIJL-RECHTS 17">
            <a:extLst>
              <a:ext uri="{FF2B5EF4-FFF2-40B4-BE49-F238E27FC236}">
                <a16:creationId xmlns:a16="http://schemas.microsoft.com/office/drawing/2014/main" id="{A6E661D6-F620-F837-F58A-C51A99669EB6}"/>
              </a:ext>
            </a:extLst>
          </p:cNvPr>
          <p:cNvSpPr/>
          <p:nvPr/>
        </p:nvSpPr>
        <p:spPr>
          <a:xfrm rot="5400000">
            <a:off x="5699956" y="471111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Rechthoek 4">
            <a:extLst>
              <a:ext uri="{FF2B5EF4-FFF2-40B4-BE49-F238E27FC236}">
                <a16:creationId xmlns:a16="http://schemas.microsoft.com/office/drawing/2014/main" id="{09AA91C3-89A8-96B7-EFDE-9489DEEF6991}"/>
              </a:ext>
            </a:extLst>
          </p:cNvPr>
          <p:cNvSpPr/>
          <p:nvPr/>
        </p:nvSpPr>
        <p:spPr>
          <a:xfrm>
            <a:off x="4783032" y="1238343"/>
            <a:ext cx="2565080" cy="936104"/>
          </a:xfrm>
          <a:prstGeom prst="rect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 err="1">
                <a:solidFill>
                  <a:prstClr val="white"/>
                </a:solidFill>
                <a:latin typeface="Calibri"/>
              </a:rPr>
              <a:t>Process</a:t>
            </a:r>
            <a:r>
              <a:rPr lang="nl-BE" b="1" u="sng" dirty="0">
                <a:solidFill>
                  <a:prstClr val="white"/>
                </a:solidFill>
                <a:latin typeface="Calibri"/>
              </a:rPr>
              <a:t> RASCI </a:t>
            </a:r>
            <a:br>
              <a:rPr lang="nl-BE" dirty="0">
                <a:solidFill>
                  <a:prstClr val="white"/>
                </a:solidFill>
                <a:latin typeface="Calibri"/>
              </a:rPr>
            </a:br>
            <a:r>
              <a:rPr lang="nl-BE" dirty="0" err="1">
                <a:solidFill>
                  <a:prstClr val="white"/>
                </a:solidFill>
                <a:latin typeface="Calibri"/>
              </a:rPr>
              <a:t>owner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(A),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Responsible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(R), …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86A576F4-1E9C-9DFC-CD37-180D6C53ECF4}"/>
              </a:ext>
            </a:extLst>
          </p:cNvPr>
          <p:cNvSpPr txBox="1">
            <a:spLocks/>
          </p:cNvSpPr>
          <p:nvPr/>
        </p:nvSpPr>
        <p:spPr>
          <a:xfrm>
            <a:off x="99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09836F-79EF-47C3-B4B2-64A25986280D}" type="datetime1">
              <a:rPr lang="en-GB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/>
              <a:t>05/03/2026</a:t>
            </a:fld>
            <a:endParaRPr lang="en-GB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E64ABB4-3DCA-84E1-1BB5-ABA9E5B8C673}"/>
              </a:ext>
            </a:extLst>
          </p:cNvPr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CONFIDENTIAL - INTERNAL</a:t>
            </a:r>
            <a:endParaRPr lang="en-GB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5B545CC5-DD5A-AE85-85F0-5AD1A01D6D56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3CC827-0890-441F-AF75-6922321CC9F8}" type="slidenum">
              <a:rPr lang="en-GB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/>
              <a:t>7</a:t>
            </a:fld>
            <a:endParaRPr lang="en-GB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26" name="Graphic 25" descr="Hidden slide, not shown during presentation">
            <a:extLst>
              <a:ext uri="{FF2B5EF4-FFF2-40B4-BE49-F238E27FC236}">
                <a16:creationId xmlns:a16="http://schemas.microsoft.com/office/drawing/2014/main" id="{8800482F-5A6B-E7CC-FB40-C10A51C1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pic>
        <p:nvPicPr>
          <p:cNvPr id="27" name="Graphic 26" descr="No sign with solid fill">
            <a:extLst>
              <a:ext uri="{FF2B5EF4-FFF2-40B4-BE49-F238E27FC236}">
                <a16:creationId xmlns:a16="http://schemas.microsoft.com/office/drawing/2014/main" id="{964C9FEA-F933-FCD0-C30D-812951D3D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1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88642"/>
            <a:ext cx="9144000" cy="432047"/>
          </a:xfrm>
        </p:spPr>
        <p:txBody>
          <a:bodyPr>
            <a:normAutofit/>
          </a:bodyPr>
          <a:lstStyle/>
          <a:p>
            <a:r>
              <a:rPr lang="nl-BE" sz="2000" dirty="0"/>
              <a:t>TURTLE-diagram - General </a:t>
            </a:r>
            <a:r>
              <a:rPr lang="nl-BE" sz="2000" dirty="0" err="1"/>
              <a:t>introduction</a:t>
            </a:r>
            <a:endParaRPr lang="nl-BE" sz="2000" dirty="0"/>
          </a:p>
        </p:txBody>
      </p:sp>
      <p:sp>
        <p:nvSpPr>
          <p:cNvPr id="4" name="Ovaal 3"/>
          <p:cNvSpPr/>
          <p:nvPr/>
        </p:nvSpPr>
        <p:spPr>
          <a:xfrm>
            <a:off x="4373384" y="2489971"/>
            <a:ext cx="3384376" cy="187220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prstClr val="white"/>
                </a:solidFill>
                <a:latin typeface="Calibri"/>
              </a:rPr>
              <a:t>PROCES DESCRIPTION</a:t>
            </a:r>
          </a:p>
          <a:p>
            <a:pPr algn="ctr"/>
            <a:r>
              <a:rPr lang="nl-BE" dirty="0">
                <a:solidFill>
                  <a:prstClr val="white"/>
                </a:solidFill>
                <a:latin typeface="Calibri"/>
              </a:rPr>
              <a:t>(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tasks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)</a:t>
            </a:r>
          </a:p>
        </p:txBody>
      </p:sp>
      <p:sp>
        <p:nvSpPr>
          <p:cNvPr id="5" name="Rechthoek 4"/>
          <p:cNvSpPr/>
          <p:nvPr/>
        </p:nvSpPr>
        <p:spPr>
          <a:xfrm>
            <a:off x="1782622" y="1241473"/>
            <a:ext cx="2322385" cy="9361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white"/>
                </a:solidFill>
                <a:latin typeface="Calibri"/>
              </a:rPr>
              <a:t>Sources</a:t>
            </a:r>
          </a:p>
          <a:p>
            <a:pPr algn="ctr"/>
            <a:r>
              <a:rPr lang="nl-BE" dirty="0">
                <a:solidFill>
                  <a:prstClr val="white"/>
                </a:solidFill>
                <a:latin typeface="Calibri"/>
              </a:rPr>
              <a:t>Input from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whom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?</a:t>
            </a:r>
          </a:p>
        </p:txBody>
      </p:sp>
      <p:sp>
        <p:nvSpPr>
          <p:cNvPr id="6" name="Rechthoek 5"/>
          <p:cNvSpPr/>
          <p:nvPr/>
        </p:nvSpPr>
        <p:spPr>
          <a:xfrm>
            <a:off x="8247780" y="1228539"/>
            <a:ext cx="2145506" cy="9361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white"/>
                </a:solidFill>
                <a:latin typeface="Calibri"/>
              </a:rPr>
              <a:t>TARGETS</a:t>
            </a:r>
          </a:p>
          <a:p>
            <a:pPr algn="ctr"/>
            <a:r>
              <a:rPr lang="nl-BE" dirty="0">
                <a:solidFill>
                  <a:prstClr val="white"/>
                </a:solidFill>
                <a:latin typeface="Calibri"/>
              </a:rPr>
              <a:t>Output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to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whom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?</a:t>
            </a:r>
          </a:p>
        </p:txBody>
      </p:sp>
      <p:sp>
        <p:nvSpPr>
          <p:cNvPr id="7" name="Rechthoek 6"/>
          <p:cNvSpPr/>
          <p:nvPr/>
        </p:nvSpPr>
        <p:spPr>
          <a:xfrm>
            <a:off x="8246936" y="4738943"/>
            <a:ext cx="2146351" cy="16036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MEASUREMENTS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results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/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metrix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expected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 algn="ctr"/>
            <a:r>
              <a:rPr lang="nl-BE" dirty="0">
                <a:solidFill>
                  <a:prstClr val="black"/>
                </a:solidFill>
                <a:latin typeface="Calibri"/>
              </a:rPr>
              <a:t>How do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you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measure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your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performance?</a:t>
            </a:r>
          </a:p>
        </p:txBody>
      </p:sp>
      <p:sp>
        <p:nvSpPr>
          <p:cNvPr id="8" name="Rechthoek 7"/>
          <p:cNvSpPr/>
          <p:nvPr/>
        </p:nvSpPr>
        <p:spPr>
          <a:xfrm>
            <a:off x="1798713" y="4668641"/>
            <a:ext cx="2257078" cy="16739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BE" b="1" u="sng" dirty="0">
                <a:solidFill>
                  <a:prstClr val="white"/>
                </a:solidFill>
                <a:latin typeface="Calibri"/>
              </a:rPr>
              <a:t>METHODS &amp; TOOLS</a:t>
            </a:r>
          </a:p>
          <a:p>
            <a:r>
              <a:rPr lang="nl-BE" dirty="0">
                <a:solidFill>
                  <a:prstClr val="white"/>
                </a:solidFill>
                <a:latin typeface="Calibri"/>
              </a:rPr>
              <a:t>How do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you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run the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processes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?</a:t>
            </a:r>
          </a:p>
        </p:txBody>
      </p:sp>
      <p:sp>
        <p:nvSpPr>
          <p:cNvPr id="9" name="Rechthoek 8"/>
          <p:cNvSpPr/>
          <p:nvPr/>
        </p:nvSpPr>
        <p:spPr>
          <a:xfrm>
            <a:off x="1798713" y="2489810"/>
            <a:ext cx="1512168" cy="18722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INPUT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is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received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needed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to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start?</a:t>
            </a:r>
          </a:p>
        </p:txBody>
      </p:sp>
      <p:sp>
        <p:nvSpPr>
          <p:cNvPr id="10" name="Rechthoek 9"/>
          <p:cNvSpPr/>
          <p:nvPr/>
        </p:nvSpPr>
        <p:spPr>
          <a:xfrm>
            <a:off x="8718103" y="2489810"/>
            <a:ext cx="1675184" cy="18722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OUTPUT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is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delivered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</a:t>
            </a:r>
          </a:p>
        </p:txBody>
      </p:sp>
      <p:sp>
        <p:nvSpPr>
          <p:cNvPr id="14" name="Ingekeepte PIJL-RECHTS 13"/>
          <p:cNvSpPr/>
          <p:nvPr/>
        </p:nvSpPr>
        <p:spPr>
          <a:xfrm rot="19010905">
            <a:off x="7494290" y="234734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Ingekeepte PIJL-RECHTS 15"/>
          <p:cNvSpPr/>
          <p:nvPr/>
        </p:nvSpPr>
        <p:spPr>
          <a:xfrm rot="3041088">
            <a:off x="3947973" y="228973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Ingekeepte PIJL-RECHTS 16"/>
          <p:cNvSpPr/>
          <p:nvPr/>
        </p:nvSpPr>
        <p:spPr>
          <a:xfrm rot="19235053">
            <a:off x="3977340" y="4145994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Ingekeepte PIJL-RECHTS 17"/>
          <p:cNvSpPr/>
          <p:nvPr/>
        </p:nvSpPr>
        <p:spPr>
          <a:xfrm rot="3041088">
            <a:off x="7512909" y="4145994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Ingekeepte PIJL-RECHTS 18"/>
          <p:cNvSpPr/>
          <p:nvPr/>
        </p:nvSpPr>
        <p:spPr>
          <a:xfrm>
            <a:off x="3411569" y="3209890"/>
            <a:ext cx="792088" cy="432048"/>
          </a:xfrm>
          <a:prstGeom prst="notch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Ingekeepte PIJL-RECHTS 20"/>
          <p:cNvSpPr/>
          <p:nvPr/>
        </p:nvSpPr>
        <p:spPr>
          <a:xfrm>
            <a:off x="7851737" y="3191734"/>
            <a:ext cx="792088" cy="432048"/>
          </a:xfrm>
          <a:prstGeom prst="notch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hthoek 22"/>
          <p:cNvSpPr/>
          <p:nvPr/>
        </p:nvSpPr>
        <p:spPr>
          <a:xfrm>
            <a:off x="4813460" y="5523918"/>
            <a:ext cx="2565080" cy="7920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RISK &amp; OPPORTUNITIES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Which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risks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? (-)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Which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opportunities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(+)?</a:t>
            </a:r>
          </a:p>
        </p:txBody>
      </p:sp>
      <p:sp>
        <p:nvSpPr>
          <p:cNvPr id="3" name="Ingekeepte PIJL-RECHTS 17">
            <a:extLst>
              <a:ext uri="{FF2B5EF4-FFF2-40B4-BE49-F238E27FC236}">
                <a16:creationId xmlns:a16="http://schemas.microsoft.com/office/drawing/2014/main" id="{A6E661D6-F620-F837-F58A-C51A99669EB6}"/>
              </a:ext>
            </a:extLst>
          </p:cNvPr>
          <p:cNvSpPr/>
          <p:nvPr/>
        </p:nvSpPr>
        <p:spPr>
          <a:xfrm rot="5400000">
            <a:off x="5699956" y="4711112"/>
            <a:ext cx="792088" cy="432048"/>
          </a:xfrm>
          <a:prstGeom prst="notch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Rechthoek 4">
            <a:extLst>
              <a:ext uri="{FF2B5EF4-FFF2-40B4-BE49-F238E27FC236}">
                <a16:creationId xmlns:a16="http://schemas.microsoft.com/office/drawing/2014/main" id="{09AA91C3-89A8-96B7-EFDE-9489DEEF6991}"/>
              </a:ext>
            </a:extLst>
          </p:cNvPr>
          <p:cNvSpPr/>
          <p:nvPr/>
        </p:nvSpPr>
        <p:spPr>
          <a:xfrm>
            <a:off x="4783032" y="1238343"/>
            <a:ext cx="2565080" cy="9361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 err="1">
                <a:solidFill>
                  <a:prstClr val="white"/>
                </a:solidFill>
                <a:latin typeface="Calibri"/>
              </a:rPr>
              <a:t>Process</a:t>
            </a:r>
            <a:r>
              <a:rPr lang="nl-BE" b="1" u="sng" dirty="0">
                <a:solidFill>
                  <a:prstClr val="white"/>
                </a:solidFill>
                <a:latin typeface="Calibri"/>
              </a:rPr>
              <a:t> RASCI </a:t>
            </a:r>
            <a:br>
              <a:rPr lang="nl-BE" dirty="0">
                <a:solidFill>
                  <a:prstClr val="white"/>
                </a:solidFill>
                <a:latin typeface="Calibri"/>
              </a:rPr>
            </a:br>
            <a:r>
              <a:rPr lang="nl-BE" dirty="0" err="1">
                <a:solidFill>
                  <a:prstClr val="white"/>
                </a:solidFill>
                <a:latin typeface="Calibri"/>
              </a:rPr>
              <a:t>owner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(A), </a:t>
            </a:r>
            <a:r>
              <a:rPr lang="nl-BE" dirty="0" err="1">
                <a:solidFill>
                  <a:prstClr val="white"/>
                </a:solidFill>
                <a:latin typeface="Calibri"/>
              </a:rPr>
              <a:t>Responsible</a:t>
            </a:r>
            <a:r>
              <a:rPr lang="nl-BE" dirty="0">
                <a:solidFill>
                  <a:prstClr val="white"/>
                </a:solidFill>
                <a:latin typeface="Calibri"/>
              </a:rPr>
              <a:t> (R), …</a:t>
            </a:r>
          </a:p>
        </p:txBody>
      </p:sp>
      <p:pic>
        <p:nvPicPr>
          <p:cNvPr id="11" name="Graphic 10" descr="Hidden slide, not shown during presentation">
            <a:extLst>
              <a:ext uri="{FF2B5EF4-FFF2-40B4-BE49-F238E27FC236}">
                <a16:creationId xmlns:a16="http://schemas.microsoft.com/office/drawing/2014/main" id="{654C657E-559D-5860-FBC7-D4893A8CA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pic>
        <p:nvPicPr>
          <p:cNvPr id="13" name="Graphic 12" descr="No sign with solid fill">
            <a:extLst>
              <a:ext uri="{FF2B5EF4-FFF2-40B4-BE49-F238E27FC236}">
                <a16:creationId xmlns:a16="http://schemas.microsoft.com/office/drawing/2014/main" id="{AA401727-970C-B94C-1C0F-8B83AEC64B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59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Reference documentation (policies &amp; procedures)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List main </a:t>
            </a:r>
            <a:r>
              <a:rPr lang="en-GB" b="1" dirty="0"/>
              <a:t>ISMS policies</a:t>
            </a:r>
            <a:r>
              <a:rPr lang="en-GB" dirty="0"/>
              <a:t> you use/manage</a:t>
            </a:r>
          </a:p>
          <a:p>
            <a:r>
              <a:rPr lang="en-GB" dirty="0"/>
              <a:t>List most important </a:t>
            </a:r>
            <a:r>
              <a:rPr lang="en-GB" b="1" dirty="0"/>
              <a:t>procedures </a:t>
            </a:r>
            <a:r>
              <a:rPr lang="en-GB" dirty="0"/>
              <a:t>used</a:t>
            </a:r>
          </a:p>
          <a:p>
            <a:r>
              <a:rPr lang="en-GB" dirty="0"/>
              <a:t>List </a:t>
            </a:r>
            <a:r>
              <a:rPr lang="en-GB" b="1" dirty="0"/>
              <a:t>operational</a:t>
            </a:r>
            <a:r>
              <a:rPr lang="en-GB" dirty="0"/>
              <a:t> </a:t>
            </a:r>
            <a:r>
              <a:rPr lang="en-GB" b="1" dirty="0"/>
              <a:t>documentation</a:t>
            </a:r>
            <a:r>
              <a:rPr lang="en-GB" dirty="0"/>
              <a:t> you use </a:t>
            </a:r>
          </a:p>
          <a:p>
            <a:pPr lvl="1"/>
            <a:r>
              <a:rPr lang="en-GB" dirty="0"/>
              <a:t>check lists, </a:t>
            </a:r>
          </a:p>
          <a:p>
            <a:pPr lvl="1"/>
            <a:r>
              <a:rPr lang="en-GB" dirty="0"/>
              <a:t>process, </a:t>
            </a:r>
          </a:p>
          <a:p>
            <a:pPr lvl="1"/>
            <a:r>
              <a:rPr lang="en-GB" dirty="0"/>
              <a:t>procedures, </a:t>
            </a:r>
          </a:p>
          <a:p>
            <a:pPr lvl="1"/>
            <a:r>
              <a:rPr lang="en-GB" dirty="0"/>
              <a:t>…)</a:t>
            </a:r>
          </a:p>
          <a:p>
            <a:r>
              <a:rPr lang="en-GB" dirty="0"/>
              <a:t>Other important documents to show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264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tasks &amp; project you work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activities your worked on</a:t>
            </a:r>
          </a:p>
          <a:p>
            <a:pPr lvl="1"/>
            <a:r>
              <a:rPr lang="en-GB" dirty="0"/>
              <a:t>Last year</a:t>
            </a:r>
          </a:p>
          <a:p>
            <a:pPr lvl="1"/>
            <a:r>
              <a:rPr lang="en-GB" dirty="0"/>
              <a:t>Coming year, near future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244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Recent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change your encountered recently</a:t>
            </a:r>
          </a:p>
          <a:p>
            <a:pPr lvl="1"/>
            <a:r>
              <a:rPr lang="en-GB" dirty="0"/>
              <a:t>Recent people onboarding</a:t>
            </a:r>
          </a:p>
          <a:p>
            <a:pPr lvl="1"/>
            <a:r>
              <a:rPr lang="en-GB" dirty="0"/>
              <a:t>Recent people offboarding</a:t>
            </a:r>
          </a:p>
          <a:p>
            <a:pPr lvl="1"/>
            <a:r>
              <a:rPr lang="en-GB" dirty="0"/>
              <a:t>New projects/tasks</a:t>
            </a:r>
          </a:p>
          <a:p>
            <a:pPr lvl="1"/>
            <a:r>
              <a:rPr lang="en-GB" dirty="0"/>
              <a:t>Closing projects/tasks</a:t>
            </a:r>
          </a:p>
          <a:p>
            <a:pPr lvl="1"/>
            <a:r>
              <a:rPr lang="en-GB" dirty="0"/>
              <a:t>…</a:t>
            </a:r>
          </a:p>
          <a:p>
            <a:r>
              <a:rPr lang="en-GB" dirty="0"/>
              <a:t>How do you manage changes </a:t>
            </a:r>
          </a:p>
          <a:p>
            <a:pPr lvl="1"/>
            <a:r>
              <a:rPr lang="en-GB" dirty="0"/>
              <a:t>On management level (ref. Clause 6.3)</a:t>
            </a:r>
          </a:p>
          <a:p>
            <a:pPr lvl="1"/>
            <a:r>
              <a:rPr lang="en-GB" dirty="0"/>
              <a:t>On operational level (ref. Clause 6.3 and A.8.32)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228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success stories to mention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successes you achieved recently?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95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0C83-806B-0BD5-6424-04ABF433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A095009-DAAD-955B-7044-5C3C55B3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KPIs (key performance indicators)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9854-F89A-6205-F75B-AB791E3B5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performance indicators you follow</a:t>
            </a:r>
          </a:p>
          <a:p>
            <a:pPr lvl="1"/>
            <a:r>
              <a:rPr lang="en-GB" dirty="0"/>
              <a:t>Strategic dashboards? </a:t>
            </a:r>
          </a:p>
          <a:p>
            <a:pPr lvl="1"/>
            <a:r>
              <a:rPr lang="en-GB" dirty="0"/>
              <a:t>Tactical (departmental) dashboard</a:t>
            </a:r>
          </a:p>
          <a:p>
            <a:pPr lvl="1"/>
            <a:r>
              <a:rPr lang="en-GB" dirty="0"/>
              <a:t>Operational (technical) dashboards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C2C568-71C1-3207-1407-DA5DDCCF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DDD84D-F29C-14FF-294C-0E57ADB5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7C3220-04F3-CF0B-0BFF-9F1F25E7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941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0C83-806B-0BD5-6424-04ABF433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A095009-DAAD-955B-7044-5C3C55B3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Threat </a:t>
            </a:r>
            <a:r>
              <a:rPr lang="en-GB"/>
              <a:t>intelligence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9854-F89A-6205-F75B-AB791E3B5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threats for your team and your responsibility? What can go wrong</a:t>
            </a:r>
          </a:p>
          <a:p>
            <a:pPr lvl="1"/>
            <a:r>
              <a:rPr lang="en-GB" dirty="0"/>
              <a:t>Competition</a:t>
            </a:r>
          </a:p>
          <a:p>
            <a:pPr lvl="1"/>
            <a:r>
              <a:rPr lang="en-GB" dirty="0"/>
              <a:t>Change of business, evolution of business</a:t>
            </a:r>
          </a:p>
          <a:p>
            <a:pPr lvl="1"/>
            <a:r>
              <a:rPr lang="en-GB" dirty="0"/>
              <a:t>Technology updates</a:t>
            </a:r>
          </a:p>
          <a:p>
            <a:pPr lvl="1"/>
            <a:r>
              <a:rPr lang="en-GB" dirty="0"/>
              <a:t>Suppliers, </a:t>
            </a:r>
          </a:p>
          <a:p>
            <a:pPr lvl="1"/>
            <a:r>
              <a:rPr lang="en-GB" dirty="0"/>
              <a:t>Cyberattacks, 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C2C568-71C1-3207-1407-DA5DDCCF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DDD84D-F29C-14FF-294C-0E57ADB5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7C3220-04F3-CF0B-0BFF-9F1F25E7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125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9E6BC-3D5F-CF3E-17C5-B9A10C5B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3174BAA-3AB9-9DE1-53C3-7F1E866F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5A147-A50D-9FCF-B26B-EBA2D4F91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do you manage risks for your tasks &amp; responsibilities? </a:t>
            </a:r>
          </a:p>
          <a:p>
            <a:pPr lvl="1"/>
            <a:r>
              <a:rPr lang="en-GB" dirty="0"/>
              <a:t>Potential issues</a:t>
            </a:r>
          </a:p>
          <a:p>
            <a:pPr lvl="1"/>
            <a:r>
              <a:rPr lang="en-GB" dirty="0"/>
              <a:t>Risk register?</a:t>
            </a:r>
          </a:p>
          <a:p>
            <a:pPr lvl="1"/>
            <a:r>
              <a:rPr lang="en-GB" dirty="0"/>
              <a:t>Risk evaluations</a:t>
            </a:r>
          </a:p>
          <a:p>
            <a:pPr lvl="1"/>
            <a:r>
              <a:rPr lang="en-GB" dirty="0"/>
              <a:t>Risk treatment</a:t>
            </a:r>
          </a:p>
          <a:p>
            <a:pPr lvl="1"/>
            <a:r>
              <a:rPr lang="en-GB" dirty="0"/>
              <a:t>Risk management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E8CE52-0C39-1225-D95C-DEFCF0A8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8E0E0B-5428-AF21-883A-D09273E3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30CABF-BB2A-5AC8-7096-984C1356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235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Incidents &amp; </a:t>
            </a:r>
            <a:r>
              <a:rPr lang="en-GB"/>
              <a:t>issue management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incidents issues your encountered recently and </a:t>
            </a:r>
            <a:r>
              <a:rPr lang="en-GB" b="1" u="sng" dirty="0"/>
              <a:t>most importantly how did you solve them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635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Operational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Show some sample cases of</a:t>
            </a:r>
          </a:p>
          <a:p>
            <a:pPr lvl="1"/>
            <a:r>
              <a:rPr lang="en-GB" dirty="0"/>
              <a:t>Dashboards</a:t>
            </a:r>
          </a:p>
          <a:p>
            <a:pPr lvl="1"/>
            <a:r>
              <a:rPr lang="en-GB" dirty="0"/>
              <a:t>Tickets</a:t>
            </a:r>
          </a:p>
          <a:p>
            <a:pPr lvl="1"/>
            <a:r>
              <a:rPr lang="en-GB" dirty="0"/>
              <a:t>Recent changes</a:t>
            </a:r>
          </a:p>
          <a:p>
            <a:pPr lvl="1"/>
            <a:r>
              <a:rPr lang="en-GB" dirty="0"/>
              <a:t>Recent projects &amp; tasks executed</a:t>
            </a:r>
          </a:p>
          <a:p>
            <a:pPr lvl="1"/>
            <a:r>
              <a:rPr lang="en-GB" dirty="0"/>
              <a:t>Documentation </a:t>
            </a:r>
          </a:p>
          <a:p>
            <a:pPr lvl="1"/>
            <a:r>
              <a:rPr lang="en-GB" dirty="0"/>
              <a:t>Incidents</a:t>
            </a:r>
          </a:p>
          <a:p>
            <a:pPr lvl="1"/>
            <a:r>
              <a:rPr lang="en-GB" dirty="0"/>
              <a:t>Ongoing projects</a:t>
            </a:r>
          </a:p>
          <a:p>
            <a:pPr lvl="1"/>
            <a:r>
              <a:rPr lang="en-GB" dirty="0"/>
              <a:t>Main activities &amp; daily operations</a:t>
            </a:r>
          </a:p>
          <a:p>
            <a:pPr lvl="1"/>
            <a:r>
              <a:rPr lang="en-GB" dirty="0"/>
              <a:t>Education, training &amp; awareness sessions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164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Hidden slide, not shown during presentation">
            <a:extLst>
              <a:ext uri="{FF2B5EF4-FFF2-40B4-BE49-F238E27FC236}">
                <a16:creationId xmlns:a16="http://schemas.microsoft.com/office/drawing/2014/main" id="{764BCDA6-BDD9-A6B5-19DD-ADE3973F1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hints &amp;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Prepare &amp; check upfront. </a:t>
            </a:r>
          </a:p>
          <a:p>
            <a:r>
              <a:rPr lang="en-GB" dirty="0"/>
              <a:t>No stress. Keep breathing.</a:t>
            </a:r>
          </a:p>
          <a:p>
            <a:r>
              <a:rPr lang="en-GB" dirty="0"/>
              <a:t>Be transparent.</a:t>
            </a:r>
          </a:p>
          <a:p>
            <a:r>
              <a:rPr lang="en-GB" dirty="0"/>
              <a:t>If needed, ask guidance by ISMS team.</a:t>
            </a:r>
          </a:p>
          <a:p>
            <a:r>
              <a:rPr lang="en-GB" dirty="0"/>
              <a:t>If you don't know the answer to questions, just say so. Don't worry.</a:t>
            </a:r>
          </a:p>
          <a:p>
            <a:pPr lvl="1"/>
            <a:r>
              <a:rPr lang="en-GB" dirty="0"/>
              <a:t>Don’t lie, the auditor will check other evidence and correlate/corroborate.</a:t>
            </a:r>
          </a:p>
          <a:p>
            <a:r>
              <a:rPr lang="en-GB" dirty="0"/>
              <a:t>If audit questions are not clear, ask clarification to auditor…</a:t>
            </a:r>
          </a:p>
          <a:p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18</a:t>
            </a:fld>
            <a:endParaRPr lang="en-GB"/>
          </a:p>
        </p:txBody>
      </p:sp>
      <p:pic>
        <p:nvPicPr>
          <p:cNvPr id="4" name="Graphic 3" descr="No sign with solid fill">
            <a:extLst>
              <a:ext uri="{FF2B5EF4-FFF2-40B4-BE49-F238E27FC236}">
                <a16:creationId xmlns:a16="http://schemas.microsoft.com/office/drawing/2014/main" id="{F2C0F32C-5E99-F86E-5889-E7A936C3F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8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hints &amp; tips</a:t>
            </a:r>
            <a:br>
              <a:rPr lang="en-GB" dirty="0"/>
            </a:br>
            <a:r>
              <a:rPr lang="en-GB" sz="2000" dirty="0"/>
              <a:t>Before external audit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Exercise, do a dry-run to present your audit slot</a:t>
            </a:r>
          </a:p>
          <a:p>
            <a:r>
              <a:rPr lang="en-GB" dirty="0"/>
              <a:t>Prepare</a:t>
            </a:r>
          </a:p>
          <a:p>
            <a:pPr lvl="1"/>
            <a:r>
              <a:rPr lang="en-GB" dirty="0"/>
              <a:t>Collect some recent use cases, for example</a:t>
            </a:r>
          </a:p>
          <a:p>
            <a:pPr lvl="2"/>
            <a:r>
              <a:rPr lang="en-GB" dirty="0"/>
              <a:t>Recent onboarding, change, off-boarding </a:t>
            </a:r>
          </a:p>
          <a:p>
            <a:pPr lvl="2"/>
            <a:r>
              <a:rPr lang="en-GB" dirty="0"/>
              <a:t>Recent incidents</a:t>
            </a:r>
          </a:p>
          <a:p>
            <a:pPr lvl="2"/>
            <a:r>
              <a:rPr lang="en-GB" dirty="0"/>
              <a:t>Recent successes</a:t>
            </a:r>
          </a:p>
          <a:p>
            <a:pPr lvl="2"/>
            <a:r>
              <a:rPr lang="en-GB" dirty="0"/>
              <a:t>Recent, current, or future projects</a:t>
            </a:r>
          </a:p>
          <a:p>
            <a:pPr lvl="2"/>
            <a:r>
              <a:rPr lang="en-GB" dirty="0"/>
              <a:t>…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19</a:t>
            </a:fld>
            <a:endParaRPr lang="en-GB"/>
          </a:p>
        </p:txBody>
      </p:sp>
      <p:pic>
        <p:nvPicPr>
          <p:cNvPr id="2" name="Graphic 1" descr="Hidden slide, not shown during presentation">
            <a:extLst>
              <a:ext uri="{FF2B5EF4-FFF2-40B4-BE49-F238E27FC236}">
                <a16:creationId xmlns:a16="http://schemas.microsoft.com/office/drawing/2014/main" id="{D248F920-7BFC-16C0-2788-3C99D22F5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pic>
        <p:nvPicPr>
          <p:cNvPr id="4" name="Graphic 3" descr="No sign with solid fill">
            <a:extLst>
              <a:ext uri="{FF2B5EF4-FFF2-40B4-BE49-F238E27FC236}">
                <a16:creationId xmlns:a16="http://schemas.microsoft.com/office/drawing/2014/main" id="{2D7DEE8E-A508-B6E5-B80E-204F72192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60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hints &amp; tips</a:t>
            </a:r>
            <a:br>
              <a:rPr lang="en-GB" dirty="0"/>
            </a:br>
            <a:r>
              <a:rPr lang="en-GB" sz="2000" dirty="0"/>
              <a:t>During audit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Make sure to have a coach available during all meetings</a:t>
            </a:r>
          </a:p>
          <a:p>
            <a:pPr lvl="1"/>
            <a:r>
              <a:rPr lang="en-GB" dirty="0"/>
              <a:t>Usually ISMS project lead, ISMS specialist, CISO, …</a:t>
            </a:r>
          </a:p>
          <a:p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05/03/2026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20</a:t>
            </a:fld>
            <a:endParaRPr lang="en-GB"/>
          </a:p>
        </p:txBody>
      </p:sp>
      <p:pic>
        <p:nvPicPr>
          <p:cNvPr id="2" name="Graphic 1" descr="Hidden slide, not shown during presentation">
            <a:extLst>
              <a:ext uri="{FF2B5EF4-FFF2-40B4-BE49-F238E27FC236}">
                <a16:creationId xmlns:a16="http://schemas.microsoft.com/office/drawing/2014/main" id="{18919E10-6C6E-3656-5BAE-10310E5A2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pic>
        <p:nvPicPr>
          <p:cNvPr id="4" name="Graphic 3" descr="No sign with solid fill">
            <a:extLst>
              <a:ext uri="{FF2B5EF4-FFF2-40B4-BE49-F238E27FC236}">
                <a16:creationId xmlns:a16="http://schemas.microsoft.com/office/drawing/2014/main" id="{D96D9AAD-7DB1-095A-E8A0-DFD3C6F42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44" y="163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67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</TotalTime>
  <Words>855</Words>
  <Application>Microsoft Office PowerPoint</Application>
  <PresentationFormat>Widescreen</PresentationFormat>
  <Paragraphs>213</Paragraphs>
  <Slides>20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Kantoorthema</vt:lpstr>
      <vt:lpstr>ISO27001  (and/or other ISO standards)</vt:lpstr>
      <vt:lpstr>Manual (Hidden) – How to use</vt:lpstr>
      <vt:lpstr>Our team (who are we)</vt:lpstr>
      <vt:lpstr>Our team (position in organigram)</vt:lpstr>
      <vt:lpstr>Team responsibility, main tasks and processes</vt:lpstr>
      <vt:lpstr>Process definition / turtle diagram</vt:lpstr>
      <vt:lpstr>TURTLE-diagram - General introduction</vt:lpstr>
      <vt:lpstr>TURTLE-diagram - General introduction</vt:lpstr>
      <vt:lpstr>Reference documentation (policies &amp; procedures)</vt:lpstr>
      <vt:lpstr>Current tasks &amp; project you work on</vt:lpstr>
      <vt:lpstr>Recent changes</vt:lpstr>
      <vt:lpstr>Important success stories to mention</vt:lpstr>
      <vt:lpstr>KPIs (key performance indicators)</vt:lpstr>
      <vt:lpstr>Threat intelligence </vt:lpstr>
      <vt:lpstr>Risk Management </vt:lpstr>
      <vt:lpstr>Incidents &amp; issue management</vt:lpstr>
      <vt:lpstr>Operational evidence</vt:lpstr>
      <vt:lpstr>Some hints &amp; tips</vt:lpstr>
      <vt:lpstr>Some hints &amp; tips Before external audit </vt:lpstr>
      <vt:lpstr>Some hints &amp; tips During audit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ISO27001</dc:title>
  <dc:creator>Peter Geelen</dc:creator>
  <cp:lastModifiedBy>Peter Geelen</cp:lastModifiedBy>
  <cp:revision>9</cp:revision>
  <dcterms:created xsi:type="dcterms:W3CDTF">2023-09-20T08:11:43Z</dcterms:created>
  <dcterms:modified xsi:type="dcterms:W3CDTF">2026-03-05T14:06:53Z</dcterms:modified>
</cp:coreProperties>
</file>